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</p:sldIdLst>
  <p:sldSz cx="2286000" cy="320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0" cy="3200400"/>
          </a:xfrm>
          <a:prstGeom prst="rect">
            <a:avLst/>
          </a:prstGeom>
          <a:solidFill>
            <a:srgbClr val="FFFFFF"/>
          </a:solidFill>
          <a:ln w="18000">
            <a:solidFill>
              <a:srgbClr val="0033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0" cy="396000"/>
          </a:xfrm>
          <a:prstGeom prst="rect">
            <a:avLst/>
          </a:prstGeom>
          <a:solidFill>
            <a:srgbClr val="003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" y="18000"/>
            <a:ext cx="16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" b="1">
                <a:solidFill>
                  <a:srgbClr val="FFFFFF"/>
                </a:solidFill>
              </a:rPr>
              <a:t>FORÇA AZUL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" y="198000"/>
            <a:ext cx="2214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FFCC00"/>
                </a:solidFill>
              </a:rPr>
              <a:t>⚓ Superfície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396000"/>
            <a:ext cx="2286000" cy="28800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000" y="403200"/>
            <a:ext cx="2214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SAG-P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4000"/>
            <a:ext cx="2286000" cy="216000"/>
          </a:xfrm>
          <a:prstGeom prst="rect">
            <a:avLst/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000" y="691200"/>
            <a:ext cx="2214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003380"/>
                </a:solidFill>
              </a:rPr>
              <a:t>SAG Principal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000" y="918000"/>
            <a:ext cx="2178000" cy="504000"/>
          </a:xfrm>
          <a:prstGeom prst="rect">
            <a:avLst/>
          </a:prstGeom>
          <a:solidFill>
            <a:srgbClr val="F0F0F0"/>
          </a:solidFill>
          <a:ln w="1080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000" y="936000"/>
            <a:ext cx="2178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005BB5"/>
                </a:solidFill>
              </a:rPr>
              <a:t>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000" y="1314000"/>
            <a:ext cx="217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50" b="0">
                <a:solidFill>
                  <a:srgbClr val="333333"/>
                </a:solidFill>
              </a:rPr>
              <a:t>1× Porta-Aviões  |  4× Helo ASW  |  4× Helo ASup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1458000"/>
            <a:ext cx="2286000" cy="162000"/>
          </a:xfrm>
          <a:prstGeom prst="rect">
            <a:avLst/>
          </a:prstGeom>
          <a:solidFill>
            <a:srgbClr val="003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000" y="14688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FFFFFF"/>
                </a:solidFill>
              </a:rPr>
              <a:t>ATRIBUTOS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16200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000" y="16308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Staying Power (HP)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6000" y="16308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000" y="18216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18288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000" y="18396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Movimento (hexes/turno)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6000" y="18396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000" y="20304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20376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000" y="20484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Detecção (melhor)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6000" y="20484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000" y="22392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22464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000" y="22572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Alcance Ataque (melhor)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86000" y="22572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000" y="24480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24552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000" y="24660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Armamento (total)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86000" y="24660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16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000" y="26568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26640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000" y="26748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Combustível (FP)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86000" y="26748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12 FP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000" y="28656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2880000"/>
            <a:ext cx="2286000" cy="16200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000" y="28872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</a:rPr>
              <a:t>CAPACIDADES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3042000"/>
            <a:ext cx="2286000" cy="252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000" y="3052800"/>
            <a:ext cx="2178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>
                <a:solidFill>
                  <a:srgbClr val="333333"/>
                </a:solidFill>
              </a:rPr>
              <a:t>Def. Aérea: 3  |  ASW: 4  |  Ataque Aéreo: 6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3294000"/>
            <a:ext cx="2286000" cy="16200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000" y="33012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</a:rPr>
              <a:t>ARMAMENTO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3456000"/>
            <a:ext cx="2286000" cy="2880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4000" y="3466800"/>
            <a:ext cx="2178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50" b="0">
                <a:solidFill>
                  <a:srgbClr val="333333"/>
                </a:solidFill>
              </a:rPr>
              <a:t>MSS ×16 (R:3)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3744000"/>
            <a:ext cx="2286000" cy="-543600"/>
          </a:xfrm>
          <a:prstGeom prst="rect">
            <a:avLst/>
          </a:prstGeom>
          <a:solidFill>
            <a:srgbClr val="003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000" y="3762000"/>
            <a:ext cx="2178000" cy="-57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0">
                <a:solidFill>
                  <a:srgbClr val="FFFFFF"/>
                </a:solidFill>
              </a:rPr>
              <a:t>ℹ NAM Atlântico + Helicópteros orgânicos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0"/>
            <a:ext cx="2286000" cy="3200400"/>
          </a:xfrm>
          <a:prstGeom prst="rect">
            <a:avLst/>
          </a:prstGeom>
          <a:noFill/>
          <a:ln w="21600">
            <a:solidFill>
              <a:srgbClr val="0033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0" cy="3200400"/>
          </a:xfrm>
          <a:prstGeom prst="rect">
            <a:avLst/>
          </a:prstGeom>
          <a:solidFill>
            <a:srgbClr val="FFFFFF"/>
          </a:solidFill>
          <a:ln w="18000">
            <a:solidFill>
              <a:srgbClr val="0033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0" cy="396000"/>
          </a:xfrm>
          <a:prstGeom prst="rect">
            <a:avLst/>
          </a:prstGeom>
          <a:solidFill>
            <a:srgbClr val="003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" y="18000"/>
            <a:ext cx="16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" b="1">
                <a:solidFill>
                  <a:srgbClr val="FFFFFF"/>
                </a:solidFill>
              </a:rPr>
              <a:t>FORÇA AZUL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" y="198000"/>
            <a:ext cx="2214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FFCC00"/>
                </a:solidFill>
              </a:rPr>
              <a:t>⚓ Superfície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396000"/>
            <a:ext cx="2286000" cy="28800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000" y="403200"/>
            <a:ext cx="2214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SAG-1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4000"/>
            <a:ext cx="2286000" cy="216000"/>
          </a:xfrm>
          <a:prstGeom prst="rect">
            <a:avLst/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000" y="691200"/>
            <a:ext cx="2214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003380"/>
                </a:solidFill>
              </a:rPr>
              <a:t>SAG Secundário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000" y="918000"/>
            <a:ext cx="2178000" cy="504000"/>
          </a:xfrm>
          <a:prstGeom prst="rect">
            <a:avLst/>
          </a:prstGeom>
          <a:solidFill>
            <a:srgbClr val="F0F0F0"/>
          </a:solidFill>
          <a:ln w="1080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000" y="936000"/>
            <a:ext cx="2178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005BB5"/>
                </a:solidFill>
              </a:rPr>
              <a:t>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000" y="1314000"/>
            <a:ext cx="217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50" b="0">
                <a:solidFill>
                  <a:srgbClr val="333333"/>
                </a:solidFill>
              </a:rPr>
              <a:t>3× Fragata  |  3× Helo ASup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1458000"/>
            <a:ext cx="2286000" cy="162000"/>
          </a:xfrm>
          <a:prstGeom prst="rect">
            <a:avLst/>
          </a:prstGeom>
          <a:solidFill>
            <a:srgbClr val="003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000" y="14688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FFFFFF"/>
                </a:solidFill>
              </a:rPr>
              <a:t>ATRIBUTOS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16200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000" y="16308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Staying Power (HP)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6000" y="16308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9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000" y="18216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18288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000" y="18396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Movimento (hexes/turno)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6000" y="18396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000" y="20304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20376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000" y="20484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Detecção (melhor)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6000" y="20484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000" y="22392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22464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000" y="22572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Alcance Ataque (melhor)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86000" y="22572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000" y="24480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24552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000" y="24660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Armamento (total)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86000" y="24660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18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000" y="26568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26640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000" y="26748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Combustível (FP)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86000" y="26748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10 FP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000" y="28656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2880000"/>
            <a:ext cx="2286000" cy="16200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000" y="28872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</a:rPr>
              <a:t>CAPACIDADES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3042000"/>
            <a:ext cx="2286000" cy="252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000" y="3052800"/>
            <a:ext cx="2178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>
                <a:solidFill>
                  <a:srgbClr val="333333"/>
                </a:solidFill>
              </a:rPr>
              <a:t>Artilharia: 3  |  Def. Aérea: 6  |  ASW: 3  |  Ataque Aéreo: 3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3294000"/>
            <a:ext cx="2286000" cy="16200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000" y="33012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</a:rPr>
              <a:t>ARMAMENTO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3456000"/>
            <a:ext cx="2286000" cy="2880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4000" y="3466800"/>
            <a:ext cx="2178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50" b="0">
                <a:solidFill>
                  <a:srgbClr val="333333"/>
                </a:solidFill>
              </a:rPr>
              <a:t>MSS ×18 (R:2)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3744000"/>
            <a:ext cx="2286000" cy="-543600"/>
          </a:xfrm>
          <a:prstGeom prst="rect">
            <a:avLst/>
          </a:prstGeom>
          <a:solidFill>
            <a:srgbClr val="003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000" y="3762000"/>
            <a:ext cx="2178000" cy="-57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0">
                <a:solidFill>
                  <a:srgbClr val="FFFFFF"/>
                </a:solidFill>
              </a:rPr>
              <a:t>ℹ 3× Fragatas Tamandaré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0"/>
            <a:ext cx="2286000" cy="3200400"/>
          </a:xfrm>
          <a:prstGeom prst="rect">
            <a:avLst/>
          </a:prstGeom>
          <a:noFill/>
          <a:ln w="21600">
            <a:solidFill>
              <a:srgbClr val="0033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0" cy="3200400"/>
          </a:xfrm>
          <a:prstGeom prst="rect">
            <a:avLst/>
          </a:prstGeom>
          <a:solidFill>
            <a:srgbClr val="FFFFFF"/>
          </a:solidFill>
          <a:ln w="18000">
            <a:solidFill>
              <a:srgbClr val="0033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0" cy="396000"/>
          </a:xfrm>
          <a:prstGeom prst="rect">
            <a:avLst/>
          </a:prstGeom>
          <a:solidFill>
            <a:srgbClr val="003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" y="18000"/>
            <a:ext cx="16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" b="1">
                <a:solidFill>
                  <a:srgbClr val="FFFFFF"/>
                </a:solidFill>
              </a:rPr>
              <a:t>FORÇA AZUL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" y="198000"/>
            <a:ext cx="2214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FFCC00"/>
                </a:solidFill>
              </a:rPr>
              <a:t>⚓ Superfície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396000"/>
            <a:ext cx="2286000" cy="28800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000" y="403200"/>
            <a:ext cx="2214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SAG-2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4000"/>
            <a:ext cx="2286000" cy="216000"/>
          </a:xfrm>
          <a:prstGeom prst="rect">
            <a:avLst/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000" y="691200"/>
            <a:ext cx="2214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003380"/>
                </a:solidFill>
              </a:rPr>
              <a:t>SAG Secundário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000" y="918000"/>
            <a:ext cx="2178000" cy="504000"/>
          </a:xfrm>
          <a:prstGeom prst="rect">
            <a:avLst/>
          </a:prstGeom>
          <a:solidFill>
            <a:srgbClr val="F0F0F0"/>
          </a:solidFill>
          <a:ln w="1080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000" y="936000"/>
            <a:ext cx="2178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005BB5"/>
                </a:solidFill>
              </a:rPr>
              <a:t>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000" y="1314000"/>
            <a:ext cx="217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50" b="0">
                <a:solidFill>
                  <a:srgbClr val="333333"/>
                </a:solidFill>
              </a:rPr>
              <a:t>2× Fragata  |  2× Corveta  |  2× Helo ASup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1458000"/>
            <a:ext cx="2286000" cy="162000"/>
          </a:xfrm>
          <a:prstGeom prst="rect">
            <a:avLst/>
          </a:prstGeom>
          <a:solidFill>
            <a:srgbClr val="003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000" y="14688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FFFFFF"/>
                </a:solidFill>
              </a:rPr>
              <a:t>ATRIBUTOS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16200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000" y="16308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Staying Power (HP)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6000" y="16308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10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000" y="18216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18288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000" y="18396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Movimento (hexes/turno)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6000" y="18396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000" y="20304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20376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000" y="20484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Detecção (melhor)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6000" y="20484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000" y="22392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22464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000" y="22572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Alcance Ataque (melhor)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86000" y="22572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000" y="24480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24552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000" y="24660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Armamento (total)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86000" y="24660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24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000" y="26568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26640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000" y="26748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Combustível (FP)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86000" y="26748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10 FP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000" y="28656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2880000"/>
            <a:ext cx="2286000" cy="16200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000" y="28872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</a:rPr>
              <a:t>CAPACIDADES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3042000"/>
            <a:ext cx="2286000" cy="252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000" y="3052800"/>
            <a:ext cx="2178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>
                <a:solidFill>
                  <a:srgbClr val="333333"/>
                </a:solidFill>
              </a:rPr>
              <a:t>Artilharia: 4  |  Def. Aérea: 6  |  ASW: 4  |  Ataque Aéreo: 2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3294000"/>
            <a:ext cx="2286000" cy="16200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000" y="33012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</a:rPr>
              <a:t>ARMAMENTO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3456000"/>
            <a:ext cx="2286000" cy="2880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4000" y="3466800"/>
            <a:ext cx="2178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50" b="0">
                <a:solidFill>
                  <a:srgbClr val="333333"/>
                </a:solidFill>
              </a:rPr>
              <a:t>MSS ×24 (R:2)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3744000"/>
            <a:ext cx="2286000" cy="-543600"/>
          </a:xfrm>
          <a:prstGeom prst="rect">
            <a:avLst/>
          </a:prstGeom>
          <a:solidFill>
            <a:srgbClr val="003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000" y="3762000"/>
            <a:ext cx="2178000" cy="-57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0">
                <a:solidFill>
                  <a:srgbClr val="FFFFFF"/>
                </a:solidFill>
              </a:rPr>
              <a:t>ℹ 2× Fragatas Tamandaré + 2× Corvetas Barroso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0"/>
            <a:ext cx="2286000" cy="3200400"/>
          </a:xfrm>
          <a:prstGeom prst="rect">
            <a:avLst/>
          </a:prstGeom>
          <a:noFill/>
          <a:ln w="21600">
            <a:solidFill>
              <a:srgbClr val="0033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0" cy="3200400"/>
          </a:xfrm>
          <a:prstGeom prst="rect">
            <a:avLst/>
          </a:prstGeom>
          <a:solidFill>
            <a:srgbClr val="FFFFFF"/>
          </a:solidFill>
          <a:ln w="18000">
            <a:solidFill>
              <a:srgbClr val="0033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0" cy="396000"/>
          </a:xfrm>
          <a:prstGeom prst="rect">
            <a:avLst/>
          </a:prstGeom>
          <a:solidFill>
            <a:srgbClr val="003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" y="18000"/>
            <a:ext cx="16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" b="1">
                <a:solidFill>
                  <a:srgbClr val="FFFFFF"/>
                </a:solidFill>
              </a:rPr>
              <a:t>FORÇA AZUL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" y="198000"/>
            <a:ext cx="2214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FFCC00"/>
                </a:solidFill>
              </a:rPr>
              <a:t>⚓ Superfície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396000"/>
            <a:ext cx="2286000" cy="28800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000" y="403200"/>
            <a:ext cx="2214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ANFIB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4000"/>
            <a:ext cx="2286000" cy="216000"/>
          </a:xfrm>
          <a:prstGeom prst="rect">
            <a:avLst/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000" y="691200"/>
            <a:ext cx="2214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003380"/>
                </a:solidFill>
              </a:rPr>
              <a:t>Força de Desembarque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000" y="918000"/>
            <a:ext cx="2178000" cy="504000"/>
          </a:xfrm>
          <a:prstGeom prst="rect">
            <a:avLst/>
          </a:prstGeom>
          <a:solidFill>
            <a:srgbClr val="F0F0F0"/>
          </a:solidFill>
          <a:ln w="1080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000" y="936000"/>
            <a:ext cx="2178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005BB5"/>
                </a:solidFill>
              </a:rPr>
              <a:t>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000" y="1314000"/>
            <a:ext cx="217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50" b="0">
                <a:solidFill>
                  <a:srgbClr val="333333"/>
                </a:solidFill>
              </a:rPr>
              <a:t>2× Navio Doca  |  1× Navio Desembarque  |  4× Helo ASW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1458000"/>
            <a:ext cx="2286000" cy="162000"/>
          </a:xfrm>
          <a:prstGeom prst="rect">
            <a:avLst/>
          </a:prstGeom>
          <a:solidFill>
            <a:srgbClr val="003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000" y="14688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FFFFFF"/>
                </a:solidFill>
              </a:rPr>
              <a:t>ATRIBUTOS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16200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000" y="16308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Staying Power (HP)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6000" y="16308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10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000" y="18216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18288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000" y="18396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Movimento (hexes/turno)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6000" y="18396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000" y="20304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20376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000" y="20484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Detecção (melhor)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6000" y="20484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000" y="22392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22464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000" y="22572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Alcance Ataque (melhor)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86000" y="22572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000" y="24480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24552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000" y="24660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Armamento (total)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86000" y="24660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—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000" y="26568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26640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000" y="26748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Combustível (FP)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86000" y="26748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8 FP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000" y="28656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2880000"/>
            <a:ext cx="2286000" cy="16200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000" y="28872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</a:rPr>
              <a:t>CAPACIDADES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3042000"/>
            <a:ext cx="2286000" cy="252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000" y="3052800"/>
            <a:ext cx="2178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>
                <a:solidFill>
                  <a:srgbClr val="333333"/>
                </a:solidFill>
              </a:rPr>
              <a:t>Artilharia: 3  |  Def. Aérea: 3  |  ASW: 4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3294000"/>
            <a:ext cx="2286000" cy="16200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000" y="33012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</a:rPr>
              <a:t>ARMAMENTO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3456000"/>
            <a:ext cx="2286000" cy="2880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4000" y="3466800"/>
            <a:ext cx="2178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50" b="0">
                <a:solidFill>
                  <a:srgbClr val="333333"/>
                </a:solidFill>
              </a:rPr>
              <a:t>—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3744000"/>
            <a:ext cx="2286000" cy="-543600"/>
          </a:xfrm>
          <a:prstGeom prst="rect">
            <a:avLst/>
          </a:prstGeom>
          <a:solidFill>
            <a:srgbClr val="003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000" y="3762000"/>
            <a:ext cx="2178000" cy="-57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0">
                <a:solidFill>
                  <a:srgbClr val="FFFFFF"/>
                </a:solidFill>
              </a:rPr>
              <a:t>ℹ NDM Bahia + Oiapoque + NCC Sabóia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0"/>
            <a:ext cx="2286000" cy="3200400"/>
          </a:xfrm>
          <a:prstGeom prst="rect">
            <a:avLst/>
          </a:prstGeom>
          <a:noFill/>
          <a:ln w="21600">
            <a:solidFill>
              <a:srgbClr val="0033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0" cy="3200400"/>
          </a:xfrm>
          <a:prstGeom prst="rect">
            <a:avLst/>
          </a:prstGeom>
          <a:solidFill>
            <a:srgbClr val="FFFFFF"/>
          </a:solidFill>
          <a:ln w="18000">
            <a:solidFill>
              <a:srgbClr val="0033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0" cy="396000"/>
          </a:xfrm>
          <a:prstGeom prst="rect">
            <a:avLst/>
          </a:prstGeom>
          <a:solidFill>
            <a:srgbClr val="003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" y="18000"/>
            <a:ext cx="16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" b="1">
                <a:solidFill>
                  <a:srgbClr val="FFFFFF"/>
                </a:solidFill>
              </a:rPr>
              <a:t>FORÇA AZUL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" y="198000"/>
            <a:ext cx="2214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FFCC00"/>
                </a:solidFill>
              </a:rPr>
              <a:t>⚓ Superfície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396000"/>
            <a:ext cx="2286000" cy="28800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000" y="403200"/>
            <a:ext cx="2214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APLOG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4000"/>
            <a:ext cx="2286000" cy="216000"/>
          </a:xfrm>
          <a:prstGeom prst="rect">
            <a:avLst/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000" y="691200"/>
            <a:ext cx="2214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003380"/>
                </a:solidFill>
              </a:rPr>
              <a:t>Apoio Logístico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000" y="918000"/>
            <a:ext cx="2178000" cy="504000"/>
          </a:xfrm>
          <a:prstGeom prst="rect">
            <a:avLst/>
          </a:prstGeom>
          <a:solidFill>
            <a:srgbClr val="F0F0F0"/>
          </a:solidFill>
          <a:ln w="1080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000" y="936000"/>
            <a:ext cx="2178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005BB5"/>
                </a:solidFill>
              </a:rPr>
              <a:t>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000" y="1314000"/>
            <a:ext cx="217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50" b="0">
                <a:solidFill>
                  <a:srgbClr val="333333"/>
                </a:solidFill>
              </a:rPr>
              <a:t>1× Navio Logístico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1458000"/>
            <a:ext cx="2286000" cy="162000"/>
          </a:xfrm>
          <a:prstGeom prst="rect">
            <a:avLst/>
          </a:prstGeom>
          <a:solidFill>
            <a:srgbClr val="003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000" y="14688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FFFFFF"/>
                </a:solidFill>
              </a:rPr>
              <a:t>ATRIBUTOS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16200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000" y="16308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Staying Power (HP)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6000" y="16308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000" y="18216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18288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000" y="18396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Movimento (hexes/turno)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6000" y="18396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000" y="20304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20376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000" y="20484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Detecção (melhor)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6000" y="20484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000" y="22392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22464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000" y="22572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Alcance Ataque (melhor)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86000" y="22572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000" y="24480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24552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000" y="24660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Armamento (total)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86000" y="24660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—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000" y="26568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26640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000" y="26748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Combustível (FP)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86000" y="26748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30 FP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000" y="28656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2880000"/>
            <a:ext cx="2286000" cy="16200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000" y="28872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</a:rPr>
              <a:t>CAPACIDADES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3042000"/>
            <a:ext cx="2286000" cy="252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000" y="3052800"/>
            <a:ext cx="2178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>
                <a:solidFill>
                  <a:srgbClr val="333333"/>
                </a:solidFill>
              </a:rPr>
              <a:t>—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3294000"/>
            <a:ext cx="2286000" cy="16200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000" y="33012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</a:rPr>
              <a:t>ARMAMENTO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3456000"/>
            <a:ext cx="2286000" cy="2880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4000" y="3466800"/>
            <a:ext cx="2178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50" b="0">
                <a:solidFill>
                  <a:srgbClr val="333333"/>
                </a:solidFill>
              </a:rPr>
              <a:t>—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3744000"/>
            <a:ext cx="2286000" cy="-543600"/>
          </a:xfrm>
          <a:prstGeom prst="rect">
            <a:avLst/>
          </a:prstGeom>
          <a:solidFill>
            <a:srgbClr val="003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000" y="3762000"/>
            <a:ext cx="2178000" cy="-57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0">
                <a:solidFill>
                  <a:srgbClr val="FFFFFF"/>
                </a:solidFill>
              </a:rPr>
              <a:t>ℹ NApLog. Reabastece unidades amigas. 30 FP.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0"/>
            <a:ext cx="2286000" cy="3200400"/>
          </a:xfrm>
          <a:prstGeom prst="rect">
            <a:avLst/>
          </a:prstGeom>
          <a:noFill/>
          <a:ln w="21600">
            <a:solidFill>
              <a:srgbClr val="0033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0" cy="3200400"/>
          </a:xfrm>
          <a:prstGeom prst="rect">
            <a:avLst/>
          </a:prstGeom>
          <a:solidFill>
            <a:srgbClr val="FFFFFF"/>
          </a:solidFill>
          <a:ln w="18000">
            <a:solidFill>
              <a:srgbClr val="0033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0" cy="396000"/>
          </a:xfrm>
          <a:prstGeom prst="rect">
            <a:avLst/>
          </a:prstGeom>
          <a:solidFill>
            <a:srgbClr val="003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" y="18000"/>
            <a:ext cx="16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" b="1">
                <a:solidFill>
                  <a:srgbClr val="FFFFFF"/>
                </a:solidFill>
              </a:rPr>
              <a:t>FORÇA AZUL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" y="198000"/>
            <a:ext cx="2214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FFCC00"/>
                </a:solidFill>
              </a:rPr>
              <a:t>⚓ Superfície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396000"/>
            <a:ext cx="2286000" cy="28800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000" y="403200"/>
            <a:ext cx="2214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REAB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4000"/>
            <a:ext cx="2286000" cy="216000"/>
          </a:xfrm>
          <a:prstGeom prst="rect">
            <a:avLst/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000" y="691200"/>
            <a:ext cx="2214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003380"/>
                </a:solidFill>
              </a:rPr>
              <a:t>Navio Tanque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000" y="918000"/>
            <a:ext cx="2178000" cy="504000"/>
          </a:xfrm>
          <a:prstGeom prst="rect">
            <a:avLst/>
          </a:prstGeom>
          <a:solidFill>
            <a:srgbClr val="F0F0F0"/>
          </a:solidFill>
          <a:ln w="1080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000" y="936000"/>
            <a:ext cx="2178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005BB5"/>
                </a:solidFill>
              </a:rPr>
              <a:t>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000" y="1314000"/>
            <a:ext cx="217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50" b="0">
                <a:solidFill>
                  <a:srgbClr val="333333"/>
                </a:solidFill>
              </a:rPr>
              <a:t>1× Navio Tanque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1458000"/>
            <a:ext cx="2286000" cy="162000"/>
          </a:xfrm>
          <a:prstGeom prst="rect">
            <a:avLst/>
          </a:prstGeom>
          <a:solidFill>
            <a:srgbClr val="003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000" y="14688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FFFFFF"/>
                </a:solidFill>
              </a:rPr>
              <a:t>ATRIBUTOS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16200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000" y="16308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Staying Power (HP)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6000" y="16308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000" y="18216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18288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000" y="18396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Movimento (hexes/turno)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6000" y="18396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000" y="20304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20376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000" y="20484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Detecção (melhor)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6000" y="20484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000" y="22392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22464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000" y="22572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Alcance Ataque (melhor)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86000" y="22572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000" y="24480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24552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000" y="24660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Armamento (total)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86000" y="24660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—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000" y="26568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26640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000" y="26748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Combustível (FP)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86000" y="26748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40 FP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000" y="28656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2880000"/>
            <a:ext cx="2286000" cy="16200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000" y="28872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</a:rPr>
              <a:t>CAPACIDADES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3042000"/>
            <a:ext cx="2286000" cy="252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000" y="3052800"/>
            <a:ext cx="2178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>
                <a:solidFill>
                  <a:srgbClr val="333333"/>
                </a:solidFill>
              </a:rPr>
              <a:t>—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3294000"/>
            <a:ext cx="2286000" cy="16200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000" y="33012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</a:rPr>
              <a:t>ARMAMENTO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3456000"/>
            <a:ext cx="2286000" cy="2880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4000" y="3466800"/>
            <a:ext cx="2178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50" b="0">
                <a:solidFill>
                  <a:srgbClr val="333333"/>
                </a:solidFill>
              </a:rPr>
              <a:t>—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3744000"/>
            <a:ext cx="2286000" cy="-543600"/>
          </a:xfrm>
          <a:prstGeom prst="rect">
            <a:avLst/>
          </a:prstGeom>
          <a:solidFill>
            <a:srgbClr val="003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000" y="3762000"/>
            <a:ext cx="2178000" cy="-57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0">
                <a:solidFill>
                  <a:srgbClr val="FFFFFF"/>
                </a:solidFill>
              </a:rPr>
              <a:t>ℹ NT Alte Gastão Motta. 40 FP.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0"/>
            <a:ext cx="2286000" cy="3200400"/>
          </a:xfrm>
          <a:prstGeom prst="rect">
            <a:avLst/>
          </a:prstGeom>
          <a:noFill/>
          <a:ln w="21600">
            <a:solidFill>
              <a:srgbClr val="0033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0" cy="3200400"/>
          </a:xfrm>
          <a:prstGeom prst="rect">
            <a:avLst/>
          </a:prstGeom>
          <a:solidFill>
            <a:srgbClr val="FFFFFF"/>
          </a:solidFill>
          <a:ln w="18000">
            <a:solidFill>
              <a:srgbClr val="0033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0" cy="396000"/>
          </a:xfrm>
          <a:prstGeom prst="rect">
            <a:avLst/>
          </a:prstGeom>
          <a:solidFill>
            <a:srgbClr val="003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" y="18000"/>
            <a:ext cx="16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" b="1">
                <a:solidFill>
                  <a:srgbClr val="FFFFFF"/>
                </a:solidFill>
              </a:rPr>
              <a:t>FORÇA AZUL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" y="198000"/>
            <a:ext cx="2214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FFCC00"/>
                </a:solidFill>
              </a:rPr>
              <a:t>⚓ Superfície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396000"/>
            <a:ext cx="2286000" cy="28800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000" y="403200"/>
            <a:ext cx="2214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PAOC1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4000"/>
            <a:ext cx="2286000" cy="216000"/>
          </a:xfrm>
          <a:prstGeom prst="rect">
            <a:avLst/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000" y="691200"/>
            <a:ext cx="2214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003380"/>
                </a:solidFill>
              </a:rPr>
              <a:t>Patrulha Oceânica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000" y="918000"/>
            <a:ext cx="2178000" cy="504000"/>
          </a:xfrm>
          <a:prstGeom prst="rect">
            <a:avLst/>
          </a:prstGeom>
          <a:solidFill>
            <a:srgbClr val="F0F0F0"/>
          </a:solidFill>
          <a:ln w="1080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000" y="936000"/>
            <a:ext cx="2178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005BB5"/>
                </a:solidFill>
              </a:rPr>
              <a:t>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000" y="1314000"/>
            <a:ext cx="217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50" b="0">
                <a:solidFill>
                  <a:srgbClr val="333333"/>
                </a:solidFill>
              </a:rPr>
              <a:t>2× NPaOc  |  2× Helo ASup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1458000"/>
            <a:ext cx="2286000" cy="162000"/>
          </a:xfrm>
          <a:prstGeom prst="rect">
            <a:avLst/>
          </a:prstGeom>
          <a:solidFill>
            <a:srgbClr val="003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000" y="14688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FFFFFF"/>
                </a:solidFill>
              </a:rPr>
              <a:t>ATRIBUTOS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16200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000" y="16308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Staying Power (HP)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6000" y="16308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000" y="18216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18288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000" y="18396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Movimento (hexes/turno)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6000" y="18396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000" y="20304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20376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000" y="20484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Detecção (melhor)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6000" y="20484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000" y="22392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22464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000" y="22572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Alcance Ataque (melhor)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86000" y="22572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000" y="24480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24552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000" y="24660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Armamento (total)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86000" y="24660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000" y="26568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26640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000" y="26748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Combustível (FP)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86000" y="26748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10 FP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000" y="28656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2880000"/>
            <a:ext cx="2286000" cy="16200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000" y="28872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</a:rPr>
              <a:t>CAPACIDADES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3042000"/>
            <a:ext cx="2286000" cy="252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000" y="3052800"/>
            <a:ext cx="2178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>
                <a:solidFill>
                  <a:srgbClr val="333333"/>
                </a:solidFill>
              </a:rPr>
              <a:t>Artilharia: 2  |  Def. Aérea: 2  |  Ataque Aéreo: 2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3294000"/>
            <a:ext cx="2286000" cy="16200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000" y="33012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</a:rPr>
              <a:t>ARMAMENTO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3456000"/>
            <a:ext cx="2286000" cy="2880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4000" y="3466800"/>
            <a:ext cx="2178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50" b="0">
                <a:solidFill>
                  <a:srgbClr val="333333"/>
                </a:solidFill>
              </a:rPr>
              <a:t>MSS ×4 (R:2)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3744000"/>
            <a:ext cx="2286000" cy="-543600"/>
          </a:xfrm>
          <a:prstGeom prst="rect">
            <a:avLst/>
          </a:prstGeom>
          <a:solidFill>
            <a:srgbClr val="003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000" y="3762000"/>
            <a:ext cx="2178000" cy="-57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0">
                <a:solidFill>
                  <a:srgbClr val="FFFFFF"/>
                </a:solidFill>
              </a:rPr>
              <a:t>ℹ 2× NPaOc Apa. ISR oceânico norte.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0"/>
            <a:ext cx="2286000" cy="3200400"/>
          </a:xfrm>
          <a:prstGeom prst="rect">
            <a:avLst/>
          </a:prstGeom>
          <a:noFill/>
          <a:ln w="21600">
            <a:solidFill>
              <a:srgbClr val="0033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0" cy="3200400"/>
          </a:xfrm>
          <a:prstGeom prst="rect">
            <a:avLst/>
          </a:prstGeom>
          <a:solidFill>
            <a:srgbClr val="FFFFFF"/>
          </a:solidFill>
          <a:ln w="18000">
            <a:solidFill>
              <a:srgbClr val="0033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0" cy="396000"/>
          </a:xfrm>
          <a:prstGeom prst="rect">
            <a:avLst/>
          </a:prstGeom>
          <a:solidFill>
            <a:srgbClr val="003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" y="18000"/>
            <a:ext cx="16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" b="1">
                <a:solidFill>
                  <a:srgbClr val="FFFFFF"/>
                </a:solidFill>
              </a:rPr>
              <a:t>FORÇA AZUL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" y="198000"/>
            <a:ext cx="2214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FFCC00"/>
                </a:solidFill>
              </a:rPr>
              <a:t>⚓ Superfície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396000"/>
            <a:ext cx="2286000" cy="28800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000" y="403200"/>
            <a:ext cx="2214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PAOC2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4000"/>
            <a:ext cx="2286000" cy="216000"/>
          </a:xfrm>
          <a:prstGeom prst="rect">
            <a:avLst/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000" y="691200"/>
            <a:ext cx="2214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003380"/>
                </a:solidFill>
              </a:rPr>
              <a:t>Patrulha Oceânica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000" y="918000"/>
            <a:ext cx="2178000" cy="504000"/>
          </a:xfrm>
          <a:prstGeom prst="rect">
            <a:avLst/>
          </a:prstGeom>
          <a:solidFill>
            <a:srgbClr val="F0F0F0"/>
          </a:solidFill>
          <a:ln w="1080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000" y="936000"/>
            <a:ext cx="2178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005BB5"/>
                </a:solidFill>
              </a:rPr>
              <a:t>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000" y="1314000"/>
            <a:ext cx="217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50" b="0">
                <a:solidFill>
                  <a:srgbClr val="333333"/>
                </a:solidFill>
              </a:rPr>
              <a:t>2× NPaOc  |  2× Helo ASup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1458000"/>
            <a:ext cx="2286000" cy="162000"/>
          </a:xfrm>
          <a:prstGeom prst="rect">
            <a:avLst/>
          </a:prstGeom>
          <a:solidFill>
            <a:srgbClr val="003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000" y="14688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FFFFFF"/>
                </a:solidFill>
              </a:rPr>
              <a:t>ATRIBUTOS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16200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000" y="16308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Staying Power (HP)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6000" y="16308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000" y="18216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18288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000" y="18396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Movimento (hexes/turno)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6000" y="18396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000" y="20304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20376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000" y="20484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Detecção (melhor)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6000" y="20484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000" y="22392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22464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000" y="22572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Alcance Ataque (melhor)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86000" y="22572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000" y="24480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24552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000" y="24660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Armamento (total)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86000" y="24660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000" y="26568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26640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000" y="26748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Combustível (FP)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86000" y="26748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10 FP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000" y="28656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2880000"/>
            <a:ext cx="2286000" cy="16200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000" y="28872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</a:rPr>
              <a:t>CAPACIDADES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3042000"/>
            <a:ext cx="2286000" cy="252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000" y="3052800"/>
            <a:ext cx="2178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>
                <a:solidFill>
                  <a:srgbClr val="333333"/>
                </a:solidFill>
              </a:rPr>
              <a:t>Artilharia: 2  |  Def. Aérea: 2  |  Ataque Aéreo: 2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3294000"/>
            <a:ext cx="2286000" cy="16200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000" y="33012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</a:rPr>
              <a:t>ARMAMENTO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3456000"/>
            <a:ext cx="2286000" cy="2880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4000" y="3466800"/>
            <a:ext cx="2178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50" b="0">
                <a:solidFill>
                  <a:srgbClr val="333333"/>
                </a:solidFill>
              </a:rPr>
              <a:t>MSS ×4 (R:2)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3744000"/>
            <a:ext cx="2286000" cy="-543600"/>
          </a:xfrm>
          <a:prstGeom prst="rect">
            <a:avLst/>
          </a:prstGeom>
          <a:solidFill>
            <a:srgbClr val="003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000" y="3762000"/>
            <a:ext cx="2178000" cy="-57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0">
                <a:solidFill>
                  <a:srgbClr val="FFFFFF"/>
                </a:solidFill>
              </a:rPr>
              <a:t>ℹ 2× NPaOc Amazonas. ISR oceânico sul.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0"/>
            <a:ext cx="2286000" cy="3200400"/>
          </a:xfrm>
          <a:prstGeom prst="rect">
            <a:avLst/>
          </a:prstGeom>
          <a:noFill/>
          <a:ln w="21600">
            <a:solidFill>
              <a:srgbClr val="0033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0" cy="3200400"/>
          </a:xfrm>
          <a:prstGeom prst="rect">
            <a:avLst/>
          </a:prstGeom>
          <a:solidFill>
            <a:srgbClr val="FFFFFF"/>
          </a:solidFill>
          <a:ln w="18000">
            <a:solidFill>
              <a:srgbClr val="0033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0" cy="396000"/>
          </a:xfrm>
          <a:prstGeom prst="rect">
            <a:avLst/>
          </a:prstGeom>
          <a:solidFill>
            <a:srgbClr val="003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" y="18000"/>
            <a:ext cx="16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" b="1">
                <a:solidFill>
                  <a:srgbClr val="FFFFFF"/>
                </a:solidFill>
              </a:rPr>
              <a:t>FORÇA AZUL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" y="198000"/>
            <a:ext cx="2214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FFCC00"/>
                </a:solidFill>
              </a:rPr>
              <a:t>⚓ Superfície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396000"/>
            <a:ext cx="2286000" cy="28800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000" y="403200"/>
            <a:ext cx="2214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PATC1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4000"/>
            <a:ext cx="2286000" cy="216000"/>
          </a:xfrm>
          <a:prstGeom prst="rect">
            <a:avLst/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000" y="691200"/>
            <a:ext cx="2214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003380"/>
                </a:solidFill>
              </a:rPr>
              <a:t>Patrulha Costeira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000" y="918000"/>
            <a:ext cx="2178000" cy="504000"/>
          </a:xfrm>
          <a:prstGeom prst="rect">
            <a:avLst/>
          </a:prstGeom>
          <a:solidFill>
            <a:srgbClr val="F0F0F0"/>
          </a:solidFill>
          <a:ln w="1080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000" y="936000"/>
            <a:ext cx="2178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005BB5"/>
                </a:solidFill>
              </a:rPr>
              <a:t>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000" y="1314000"/>
            <a:ext cx="217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50" b="0">
                <a:solidFill>
                  <a:srgbClr val="333333"/>
                </a:solidFill>
              </a:rPr>
              <a:t>2× NPa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1458000"/>
            <a:ext cx="2286000" cy="162000"/>
          </a:xfrm>
          <a:prstGeom prst="rect">
            <a:avLst/>
          </a:prstGeom>
          <a:solidFill>
            <a:srgbClr val="003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000" y="14688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FFFFFF"/>
                </a:solidFill>
              </a:rPr>
              <a:t>ATRIBUTOS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16200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000" y="16308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Staying Power (HP)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6000" y="16308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000" y="18216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18288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000" y="18396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Movimento (hexes/turno)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6000" y="18396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000" y="20304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20376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000" y="20484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Detecção (melhor)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6000" y="20484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000" y="22392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22464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000" y="22572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Alcance Ataque (melhor)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86000" y="22572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000" y="24480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24552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000" y="24660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Armamento (total)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86000" y="24660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000" y="26568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26640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000" y="26748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Combustível (FP)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86000" y="26748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6 FP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000" y="28656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2880000"/>
            <a:ext cx="2286000" cy="16200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000" y="28872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</a:rPr>
              <a:t>CAPACIDADES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3042000"/>
            <a:ext cx="2286000" cy="252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000" y="3052800"/>
            <a:ext cx="2178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>
                <a:solidFill>
                  <a:srgbClr val="333333"/>
                </a:solidFill>
              </a:rPr>
              <a:t>Artilharia: 2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3294000"/>
            <a:ext cx="2286000" cy="16200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000" y="33012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</a:rPr>
              <a:t>ARMAMENTO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3456000"/>
            <a:ext cx="2286000" cy="2880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4000" y="3466800"/>
            <a:ext cx="2178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50" b="0">
                <a:solidFill>
                  <a:srgbClr val="333333"/>
                </a:solidFill>
              </a:rPr>
              <a:t>MSS ×2 (R:1)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3744000"/>
            <a:ext cx="2286000" cy="-543600"/>
          </a:xfrm>
          <a:prstGeom prst="rect">
            <a:avLst/>
          </a:prstGeom>
          <a:solidFill>
            <a:srgbClr val="003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000" y="3762000"/>
            <a:ext cx="2178000" cy="-57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0">
                <a:solidFill>
                  <a:srgbClr val="FFFFFF"/>
                </a:solidFill>
              </a:rPr>
              <a:t>ℹ 2× NPa Macaé. Zona costeira.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0"/>
            <a:ext cx="2286000" cy="3200400"/>
          </a:xfrm>
          <a:prstGeom prst="rect">
            <a:avLst/>
          </a:prstGeom>
          <a:noFill/>
          <a:ln w="21600">
            <a:solidFill>
              <a:srgbClr val="0033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0" cy="3200400"/>
          </a:xfrm>
          <a:prstGeom prst="rect">
            <a:avLst/>
          </a:prstGeom>
          <a:solidFill>
            <a:srgbClr val="FFFFFF"/>
          </a:solidFill>
          <a:ln w="18000">
            <a:solidFill>
              <a:srgbClr val="0033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0" cy="396000"/>
          </a:xfrm>
          <a:prstGeom prst="rect">
            <a:avLst/>
          </a:prstGeom>
          <a:solidFill>
            <a:srgbClr val="003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" y="18000"/>
            <a:ext cx="16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" b="1">
                <a:solidFill>
                  <a:srgbClr val="FFFFFF"/>
                </a:solidFill>
              </a:rPr>
              <a:t>FORÇA AZUL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" y="198000"/>
            <a:ext cx="2214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FFCC00"/>
                </a:solidFill>
              </a:rPr>
              <a:t>⚓ Superfície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396000"/>
            <a:ext cx="2286000" cy="28800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000" y="403200"/>
            <a:ext cx="2214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PATC2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4000"/>
            <a:ext cx="2286000" cy="216000"/>
          </a:xfrm>
          <a:prstGeom prst="rect">
            <a:avLst/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000" y="691200"/>
            <a:ext cx="2214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003380"/>
                </a:solidFill>
              </a:rPr>
              <a:t>Patrulha Costeira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000" y="918000"/>
            <a:ext cx="2178000" cy="504000"/>
          </a:xfrm>
          <a:prstGeom prst="rect">
            <a:avLst/>
          </a:prstGeom>
          <a:solidFill>
            <a:srgbClr val="F0F0F0"/>
          </a:solidFill>
          <a:ln w="1080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000" y="936000"/>
            <a:ext cx="2178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005BB5"/>
                </a:solidFill>
              </a:rPr>
              <a:t>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000" y="1314000"/>
            <a:ext cx="217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50" b="0">
                <a:solidFill>
                  <a:srgbClr val="333333"/>
                </a:solidFill>
              </a:rPr>
              <a:t>2× NPa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1458000"/>
            <a:ext cx="2286000" cy="162000"/>
          </a:xfrm>
          <a:prstGeom prst="rect">
            <a:avLst/>
          </a:prstGeom>
          <a:solidFill>
            <a:srgbClr val="003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000" y="14688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FFFFFF"/>
                </a:solidFill>
              </a:rPr>
              <a:t>ATRIBUTOS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16200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000" y="16308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Staying Power (HP)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6000" y="16308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000" y="18216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18288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000" y="18396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Movimento (hexes/turno)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6000" y="18396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000" y="20304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20376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000" y="20484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Detecção (melhor)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6000" y="20484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000" y="22392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22464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000" y="22572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Alcance Ataque (melhor)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86000" y="22572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000" y="24480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24552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000" y="24660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Armamento (total)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86000" y="24660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000" y="26568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26640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000" y="26748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Combustível (FP)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86000" y="26748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6 FP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000" y="28656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2880000"/>
            <a:ext cx="2286000" cy="16200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000" y="28872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</a:rPr>
              <a:t>CAPACIDADES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3042000"/>
            <a:ext cx="2286000" cy="252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000" y="3052800"/>
            <a:ext cx="2178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>
                <a:solidFill>
                  <a:srgbClr val="333333"/>
                </a:solidFill>
              </a:rPr>
              <a:t>Artilharia: 2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3294000"/>
            <a:ext cx="2286000" cy="16200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000" y="33012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</a:rPr>
              <a:t>ARMAMENTO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3456000"/>
            <a:ext cx="2286000" cy="2880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4000" y="3466800"/>
            <a:ext cx="2178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50" b="0">
                <a:solidFill>
                  <a:srgbClr val="333333"/>
                </a:solidFill>
              </a:rPr>
              <a:t>MSS ×2 (R:1)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3744000"/>
            <a:ext cx="2286000" cy="-543600"/>
          </a:xfrm>
          <a:prstGeom prst="rect">
            <a:avLst/>
          </a:prstGeom>
          <a:solidFill>
            <a:srgbClr val="003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000" y="3762000"/>
            <a:ext cx="2178000" cy="-57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0">
                <a:solidFill>
                  <a:srgbClr val="FFFFFF"/>
                </a:solidFill>
              </a:rPr>
              <a:t>ℹ 4× NPa Grajaú. Zona costeira.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0"/>
            <a:ext cx="2286000" cy="3200400"/>
          </a:xfrm>
          <a:prstGeom prst="rect">
            <a:avLst/>
          </a:prstGeom>
          <a:noFill/>
          <a:ln w="21600">
            <a:solidFill>
              <a:srgbClr val="0033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0" cy="3200400"/>
          </a:xfrm>
          <a:prstGeom prst="rect">
            <a:avLst/>
          </a:prstGeom>
          <a:solidFill>
            <a:srgbClr val="FFFFFF"/>
          </a:solidFill>
          <a:ln w="18000">
            <a:solidFill>
              <a:srgbClr val="0033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0" cy="396000"/>
          </a:xfrm>
          <a:prstGeom prst="rect">
            <a:avLst/>
          </a:prstGeom>
          <a:solidFill>
            <a:srgbClr val="003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" y="18000"/>
            <a:ext cx="16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" b="1">
                <a:solidFill>
                  <a:srgbClr val="FFFFFF"/>
                </a:solidFill>
              </a:rPr>
              <a:t>FORÇA AZUL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" y="198000"/>
            <a:ext cx="2214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FFCC00"/>
                </a:solidFill>
              </a:rPr>
              <a:t>〰 Submarino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396000"/>
            <a:ext cx="2286000" cy="28800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000" y="403200"/>
            <a:ext cx="2214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SBN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4000"/>
            <a:ext cx="2286000" cy="216000"/>
          </a:xfrm>
          <a:prstGeom prst="rect">
            <a:avLst/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000" y="691200"/>
            <a:ext cx="2214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003380"/>
                </a:solidFill>
              </a:rPr>
              <a:t>Submarino Nuclear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000" y="918000"/>
            <a:ext cx="2178000" cy="504000"/>
          </a:xfrm>
          <a:prstGeom prst="rect">
            <a:avLst/>
          </a:prstGeom>
          <a:solidFill>
            <a:srgbClr val="F0F0F0"/>
          </a:solidFill>
          <a:ln w="1080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000" y="936000"/>
            <a:ext cx="2178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005BB5"/>
                </a:solidFill>
              </a:rPr>
              <a:t>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000" y="1314000"/>
            <a:ext cx="217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50" b="0">
                <a:solidFill>
                  <a:srgbClr val="333333"/>
                </a:solidFill>
              </a:rPr>
              <a:t>1× Sub Nuclear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1458000"/>
            <a:ext cx="2286000" cy="162000"/>
          </a:xfrm>
          <a:prstGeom prst="rect">
            <a:avLst/>
          </a:prstGeom>
          <a:solidFill>
            <a:srgbClr val="003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000" y="14688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FFFFFF"/>
                </a:solidFill>
              </a:rPr>
              <a:t>ATRIBUTOS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16200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000" y="16308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Staying Power (HP)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6000" y="16308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000" y="18216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18288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000" y="18396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Movimento (hexes/turno)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6000" y="18396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000" y="20304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20376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000" y="20484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Detecção (melhor)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6000" y="20484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000" y="22392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22464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000" y="22572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Alcance Ataque (melhor)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86000" y="22572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000" y="24480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24552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000" y="24660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Armamento (total)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86000" y="24660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18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000" y="26568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26640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000" y="26748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Combustível (FP)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86000" y="26748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∞ (Nuclear)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000" y="28656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2880000"/>
            <a:ext cx="2286000" cy="16200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000" y="28872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</a:rPr>
              <a:t>CAPACIDADES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3042000"/>
            <a:ext cx="2286000" cy="252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000" y="3052800"/>
            <a:ext cx="2178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>
                <a:solidFill>
                  <a:srgbClr val="333333"/>
                </a:solidFill>
              </a:rPr>
              <a:t>ASW: 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3294000"/>
            <a:ext cx="2286000" cy="16200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000" y="33012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</a:rPr>
              <a:t>ARMAMENTO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3456000"/>
            <a:ext cx="2286000" cy="2880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4000" y="3466800"/>
            <a:ext cx="2178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50" b="0">
                <a:solidFill>
                  <a:srgbClr val="333333"/>
                </a:solidFill>
              </a:rPr>
              <a:t>ASCM ×2 (R:6)  |  MSS ×4 (R:2)  |  Torpedo ×12 (R:2)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3744000"/>
            <a:ext cx="2286000" cy="-543600"/>
          </a:xfrm>
          <a:prstGeom prst="rect">
            <a:avLst/>
          </a:prstGeom>
          <a:solidFill>
            <a:srgbClr val="003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000" y="3762000"/>
            <a:ext cx="2178000" cy="-57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0">
                <a:solidFill>
                  <a:srgbClr val="FFFFFF"/>
                </a:solidFill>
              </a:rPr>
              <a:t>ℹ SNAC Álvaro Alberto. Nuclear. Posição secreta.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0"/>
            <a:ext cx="2286000" cy="3200400"/>
          </a:xfrm>
          <a:prstGeom prst="rect">
            <a:avLst/>
          </a:prstGeom>
          <a:noFill/>
          <a:ln w="21600">
            <a:solidFill>
              <a:srgbClr val="0033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0" cy="3200400"/>
          </a:xfrm>
          <a:prstGeom prst="rect">
            <a:avLst/>
          </a:prstGeom>
          <a:solidFill>
            <a:srgbClr val="FFFFFF"/>
          </a:solidFill>
          <a:ln w="18000">
            <a:solidFill>
              <a:srgbClr val="0033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0" cy="396000"/>
          </a:xfrm>
          <a:prstGeom prst="rect">
            <a:avLst/>
          </a:prstGeom>
          <a:solidFill>
            <a:srgbClr val="003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" y="18000"/>
            <a:ext cx="16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" b="1">
                <a:solidFill>
                  <a:srgbClr val="FFFFFF"/>
                </a:solidFill>
              </a:rPr>
              <a:t>FORÇA AZUL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" y="198000"/>
            <a:ext cx="2214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FFCC00"/>
                </a:solidFill>
              </a:rPr>
              <a:t>〰 Submarino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396000"/>
            <a:ext cx="2286000" cy="28800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000" y="403200"/>
            <a:ext cx="2214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SB1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4000"/>
            <a:ext cx="2286000" cy="216000"/>
          </a:xfrm>
          <a:prstGeom prst="rect">
            <a:avLst/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000" y="691200"/>
            <a:ext cx="2214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003380"/>
                </a:solidFill>
              </a:rPr>
              <a:t>Submarino Convencional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000" y="918000"/>
            <a:ext cx="2178000" cy="504000"/>
          </a:xfrm>
          <a:prstGeom prst="rect">
            <a:avLst/>
          </a:prstGeom>
          <a:solidFill>
            <a:srgbClr val="F0F0F0"/>
          </a:solidFill>
          <a:ln w="1080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000" y="936000"/>
            <a:ext cx="2178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005BB5"/>
                </a:solidFill>
              </a:rPr>
              <a:t>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000" y="1314000"/>
            <a:ext cx="217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50" b="0">
                <a:solidFill>
                  <a:srgbClr val="333333"/>
                </a:solidFill>
              </a:rPr>
              <a:t>1× Sub Convencional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1458000"/>
            <a:ext cx="2286000" cy="162000"/>
          </a:xfrm>
          <a:prstGeom prst="rect">
            <a:avLst/>
          </a:prstGeom>
          <a:solidFill>
            <a:srgbClr val="003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000" y="14688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FFFFFF"/>
                </a:solidFill>
              </a:rPr>
              <a:t>ATRIBUTOS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16200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000" y="16308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Staying Power (HP)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6000" y="16308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000" y="18216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18288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000" y="18396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Movimento (hexes/turno)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6000" y="18396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000" y="20304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20376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000" y="20484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Detecção (melhor)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6000" y="20484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000" y="22392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22464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000" y="22572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Alcance Ataque (melhor)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86000" y="22572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000" y="24480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24552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000" y="24660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Armamento (total)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86000" y="24660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8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000" y="26568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26640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000" y="26748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Combustível (FP)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86000" y="26748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20 FP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000" y="28656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2880000"/>
            <a:ext cx="2286000" cy="16200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000" y="28872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</a:rPr>
              <a:t>CAPACIDADES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3042000"/>
            <a:ext cx="2286000" cy="252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000" y="3052800"/>
            <a:ext cx="2178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>
                <a:solidFill>
                  <a:srgbClr val="333333"/>
                </a:solidFill>
              </a:rPr>
              <a:t>ASW: 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3294000"/>
            <a:ext cx="2286000" cy="16200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000" y="33012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</a:rPr>
              <a:t>ARMAMENTO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3456000"/>
            <a:ext cx="2286000" cy="2880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4000" y="3466800"/>
            <a:ext cx="2178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50" b="0">
                <a:solidFill>
                  <a:srgbClr val="333333"/>
                </a:solidFill>
              </a:rPr>
              <a:t>MSS ×2 (R:2)  |  Torpedo ×6 (R:2)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3744000"/>
            <a:ext cx="2286000" cy="-543600"/>
          </a:xfrm>
          <a:prstGeom prst="rect">
            <a:avLst/>
          </a:prstGeom>
          <a:solidFill>
            <a:srgbClr val="003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000" y="3762000"/>
            <a:ext cx="2178000" cy="-57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0">
                <a:solidFill>
                  <a:srgbClr val="FFFFFF"/>
                </a:solidFill>
              </a:rPr>
              <a:t>ℹ S40 Riachuelo. Posição secreta.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0"/>
            <a:ext cx="2286000" cy="3200400"/>
          </a:xfrm>
          <a:prstGeom prst="rect">
            <a:avLst/>
          </a:prstGeom>
          <a:noFill/>
          <a:ln w="21600">
            <a:solidFill>
              <a:srgbClr val="0033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0" cy="3200400"/>
          </a:xfrm>
          <a:prstGeom prst="rect">
            <a:avLst/>
          </a:prstGeom>
          <a:solidFill>
            <a:srgbClr val="FFFFFF"/>
          </a:solidFill>
          <a:ln w="18000">
            <a:solidFill>
              <a:srgbClr val="0033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0" cy="396000"/>
          </a:xfrm>
          <a:prstGeom prst="rect">
            <a:avLst/>
          </a:prstGeom>
          <a:solidFill>
            <a:srgbClr val="003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" y="18000"/>
            <a:ext cx="16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" b="1">
                <a:solidFill>
                  <a:srgbClr val="FFFFFF"/>
                </a:solidFill>
              </a:rPr>
              <a:t>FORÇA AZUL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" y="198000"/>
            <a:ext cx="2214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FFCC00"/>
                </a:solidFill>
              </a:rPr>
              <a:t>〰 Submarino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396000"/>
            <a:ext cx="2286000" cy="28800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000" y="403200"/>
            <a:ext cx="2214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SB2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4000"/>
            <a:ext cx="2286000" cy="216000"/>
          </a:xfrm>
          <a:prstGeom prst="rect">
            <a:avLst/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000" y="691200"/>
            <a:ext cx="2214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003380"/>
                </a:solidFill>
              </a:rPr>
              <a:t>Submarino Convencional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000" y="918000"/>
            <a:ext cx="2178000" cy="504000"/>
          </a:xfrm>
          <a:prstGeom prst="rect">
            <a:avLst/>
          </a:prstGeom>
          <a:solidFill>
            <a:srgbClr val="F0F0F0"/>
          </a:solidFill>
          <a:ln w="1080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000" y="936000"/>
            <a:ext cx="2178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005BB5"/>
                </a:solidFill>
              </a:rPr>
              <a:t>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000" y="1314000"/>
            <a:ext cx="217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50" b="0">
                <a:solidFill>
                  <a:srgbClr val="333333"/>
                </a:solidFill>
              </a:rPr>
              <a:t>1× Sub Convencional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1458000"/>
            <a:ext cx="2286000" cy="162000"/>
          </a:xfrm>
          <a:prstGeom prst="rect">
            <a:avLst/>
          </a:prstGeom>
          <a:solidFill>
            <a:srgbClr val="003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000" y="14688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FFFFFF"/>
                </a:solidFill>
              </a:rPr>
              <a:t>ATRIBUTOS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16200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000" y="16308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Staying Power (HP)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6000" y="16308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000" y="18216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18288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000" y="18396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Movimento (hexes/turno)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6000" y="18396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000" y="20304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20376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000" y="20484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Detecção (melhor)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6000" y="20484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000" y="22392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22464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000" y="22572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Alcance Ataque (melhor)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86000" y="22572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000" y="24480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24552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000" y="24660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Armamento (total)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86000" y="24660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8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000" y="26568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26640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000" y="26748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Combustível (FP)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86000" y="26748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20 FP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000" y="28656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2880000"/>
            <a:ext cx="2286000" cy="16200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000" y="28872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</a:rPr>
              <a:t>CAPACIDADES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3042000"/>
            <a:ext cx="2286000" cy="252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000" y="3052800"/>
            <a:ext cx="2178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>
                <a:solidFill>
                  <a:srgbClr val="333333"/>
                </a:solidFill>
              </a:rPr>
              <a:t>ASW: 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3294000"/>
            <a:ext cx="2286000" cy="16200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000" y="33012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</a:rPr>
              <a:t>ARMAMENTO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3456000"/>
            <a:ext cx="2286000" cy="2880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4000" y="3466800"/>
            <a:ext cx="2178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50" b="0">
                <a:solidFill>
                  <a:srgbClr val="333333"/>
                </a:solidFill>
              </a:rPr>
              <a:t>MSS ×2 (R:2)  |  Torpedo ×6 (R:2)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3744000"/>
            <a:ext cx="2286000" cy="-543600"/>
          </a:xfrm>
          <a:prstGeom prst="rect">
            <a:avLst/>
          </a:prstGeom>
          <a:solidFill>
            <a:srgbClr val="003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000" y="3762000"/>
            <a:ext cx="2178000" cy="-57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0">
                <a:solidFill>
                  <a:srgbClr val="FFFFFF"/>
                </a:solidFill>
              </a:rPr>
              <a:t>ℹ S41 Humaitá. Posição secreta.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0"/>
            <a:ext cx="2286000" cy="3200400"/>
          </a:xfrm>
          <a:prstGeom prst="rect">
            <a:avLst/>
          </a:prstGeom>
          <a:noFill/>
          <a:ln w="21600">
            <a:solidFill>
              <a:srgbClr val="0033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0" cy="3200400"/>
          </a:xfrm>
          <a:prstGeom prst="rect">
            <a:avLst/>
          </a:prstGeom>
          <a:solidFill>
            <a:srgbClr val="FFFFFF"/>
          </a:solidFill>
          <a:ln w="18000">
            <a:solidFill>
              <a:srgbClr val="0033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0" cy="396000"/>
          </a:xfrm>
          <a:prstGeom prst="rect">
            <a:avLst/>
          </a:prstGeom>
          <a:solidFill>
            <a:srgbClr val="003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" y="18000"/>
            <a:ext cx="16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" b="1">
                <a:solidFill>
                  <a:srgbClr val="FFFFFF"/>
                </a:solidFill>
              </a:rPr>
              <a:t>FORÇA AZUL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" y="198000"/>
            <a:ext cx="2214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FFCC00"/>
                </a:solidFill>
              </a:rPr>
              <a:t>〰 Submarino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396000"/>
            <a:ext cx="2286000" cy="28800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000" y="403200"/>
            <a:ext cx="2214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SB3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4000"/>
            <a:ext cx="2286000" cy="216000"/>
          </a:xfrm>
          <a:prstGeom prst="rect">
            <a:avLst/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000" y="691200"/>
            <a:ext cx="2214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003380"/>
                </a:solidFill>
              </a:rPr>
              <a:t>Submarino Convencional 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000" y="918000"/>
            <a:ext cx="2178000" cy="504000"/>
          </a:xfrm>
          <a:prstGeom prst="rect">
            <a:avLst/>
          </a:prstGeom>
          <a:solidFill>
            <a:srgbClr val="F0F0F0"/>
          </a:solidFill>
          <a:ln w="1080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000" y="936000"/>
            <a:ext cx="2178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005BB5"/>
                </a:solidFill>
              </a:rPr>
              <a:t>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000" y="1314000"/>
            <a:ext cx="217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50" b="0">
                <a:solidFill>
                  <a:srgbClr val="333333"/>
                </a:solidFill>
              </a:rPr>
              <a:t>1× Sub Convencional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1458000"/>
            <a:ext cx="2286000" cy="162000"/>
          </a:xfrm>
          <a:prstGeom prst="rect">
            <a:avLst/>
          </a:prstGeom>
          <a:solidFill>
            <a:srgbClr val="003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000" y="14688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FFFFFF"/>
                </a:solidFill>
              </a:rPr>
              <a:t>ATRIBUTOS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16200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000" y="16308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Staying Power (HP)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6000" y="16308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000" y="18216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18288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000" y="18396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Movimento (hexes/turno)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6000" y="18396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000" y="20304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20376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000" y="20484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Detecção (melhor)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6000" y="20484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000" y="22392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22464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000" y="22572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Alcance Ataque (melhor)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86000" y="22572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000" y="24480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24552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000" y="24660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Armamento (total)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86000" y="24660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8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000" y="26568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26640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000" y="26748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Combustível (FP)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86000" y="26748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20 FP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000" y="28656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2880000"/>
            <a:ext cx="2286000" cy="16200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000" y="28872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</a:rPr>
              <a:t>CAPACIDADES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3042000"/>
            <a:ext cx="2286000" cy="252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000" y="3052800"/>
            <a:ext cx="2178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>
                <a:solidFill>
                  <a:srgbClr val="333333"/>
                </a:solidFill>
              </a:rPr>
              <a:t>ASW: 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3294000"/>
            <a:ext cx="2286000" cy="16200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000" y="33012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</a:rPr>
              <a:t>ARMAMENTO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3456000"/>
            <a:ext cx="2286000" cy="2880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4000" y="3466800"/>
            <a:ext cx="2178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50" b="0">
                <a:solidFill>
                  <a:srgbClr val="333333"/>
                </a:solidFill>
              </a:rPr>
              <a:t>MSS ×2 (R:2)  |  Torpedo ×6 (R:2)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3744000"/>
            <a:ext cx="2286000" cy="-543600"/>
          </a:xfrm>
          <a:prstGeom prst="rect">
            <a:avLst/>
          </a:prstGeom>
          <a:solidFill>
            <a:srgbClr val="003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000" y="3762000"/>
            <a:ext cx="2178000" cy="-57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0">
                <a:solidFill>
                  <a:srgbClr val="FFFFFF"/>
                </a:solidFill>
              </a:rPr>
              <a:t>ℹ S42 Tonelero. Posição secreta.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0"/>
            <a:ext cx="2286000" cy="3200400"/>
          </a:xfrm>
          <a:prstGeom prst="rect">
            <a:avLst/>
          </a:prstGeom>
          <a:noFill/>
          <a:ln w="21600">
            <a:solidFill>
              <a:srgbClr val="0033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0" cy="3200400"/>
          </a:xfrm>
          <a:prstGeom prst="rect">
            <a:avLst/>
          </a:prstGeom>
          <a:solidFill>
            <a:srgbClr val="FFFFFF"/>
          </a:solidFill>
          <a:ln w="18000">
            <a:solidFill>
              <a:srgbClr val="0033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0" cy="396000"/>
          </a:xfrm>
          <a:prstGeom prst="rect">
            <a:avLst/>
          </a:prstGeom>
          <a:solidFill>
            <a:srgbClr val="003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" y="18000"/>
            <a:ext cx="16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" b="1">
                <a:solidFill>
                  <a:srgbClr val="FFFFFF"/>
                </a:solidFill>
              </a:rPr>
              <a:t>FORÇA AZUL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" y="198000"/>
            <a:ext cx="2214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FFCC00"/>
                </a:solidFill>
              </a:rPr>
              <a:t>✈ Aéreo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396000"/>
            <a:ext cx="2286000" cy="28800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000" y="403200"/>
            <a:ext cx="2214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PATMAR1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4000"/>
            <a:ext cx="2286000" cy="216000"/>
          </a:xfrm>
          <a:prstGeom prst="rect">
            <a:avLst/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000" y="691200"/>
            <a:ext cx="2214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003380"/>
                </a:solidFill>
              </a:rPr>
              <a:t>Patrulha Marítima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000" y="918000"/>
            <a:ext cx="2178000" cy="504000"/>
          </a:xfrm>
          <a:prstGeom prst="rect">
            <a:avLst/>
          </a:prstGeom>
          <a:solidFill>
            <a:srgbClr val="F0F0F0"/>
          </a:solidFill>
          <a:ln w="1080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000" y="936000"/>
            <a:ext cx="2178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005BB5"/>
                </a:solidFill>
              </a:rPr>
              <a:t>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000" y="1314000"/>
            <a:ext cx="217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50" b="0">
                <a:solidFill>
                  <a:srgbClr val="333333"/>
                </a:solidFill>
              </a:rPr>
              <a:t>2× Patrulha Marítima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1458000"/>
            <a:ext cx="2286000" cy="162000"/>
          </a:xfrm>
          <a:prstGeom prst="rect">
            <a:avLst/>
          </a:prstGeom>
          <a:solidFill>
            <a:srgbClr val="003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000" y="14688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FFFFFF"/>
                </a:solidFill>
              </a:rPr>
              <a:t>ATRIBUTOS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16200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000" y="16308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Staying Power (HP)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6000" y="16308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000" y="18216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18288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000" y="18396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Movimento (hexes/turno)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6000" y="18396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16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000" y="20304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20376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000" y="20484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Detecção (melhor)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6000" y="20484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000" y="22392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22464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000" y="22572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Alcance Ataque (melhor)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86000" y="22572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000" y="24480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24552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000" y="24660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Armamento (total)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86000" y="24660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000" y="26568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26640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000" y="26748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Combustível (FP)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86000" y="26748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16 FP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000" y="28656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2880000"/>
            <a:ext cx="2286000" cy="16200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000" y="28872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</a:rPr>
              <a:t>CAPACIDADES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3042000"/>
            <a:ext cx="2286000" cy="252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000" y="3052800"/>
            <a:ext cx="2178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>
                <a:solidFill>
                  <a:srgbClr val="333333"/>
                </a:solidFill>
              </a:rPr>
              <a:t>ASW: 2  |  Ataque Aéreo: 2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3294000"/>
            <a:ext cx="2286000" cy="16200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000" y="33012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</a:rPr>
              <a:t>ARMAMENTO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3456000"/>
            <a:ext cx="2286000" cy="2880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4000" y="3466800"/>
            <a:ext cx="2178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50" b="0">
                <a:solidFill>
                  <a:srgbClr val="333333"/>
                </a:solidFill>
              </a:rPr>
              <a:t>MSS ×4 (R:2)  |  Torpedo ×2 (R:2)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3744000"/>
            <a:ext cx="2286000" cy="-543600"/>
          </a:xfrm>
          <a:prstGeom prst="rect">
            <a:avLst/>
          </a:prstGeom>
          <a:solidFill>
            <a:srgbClr val="003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000" y="3762000"/>
            <a:ext cx="2178000" cy="-57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0">
                <a:solidFill>
                  <a:srgbClr val="FFFFFF"/>
                </a:solidFill>
              </a:rPr>
              <a:t>ℹ P-3AM Orion. ASW + anti-superfície. Base Santos.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0"/>
            <a:ext cx="2286000" cy="3200400"/>
          </a:xfrm>
          <a:prstGeom prst="rect">
            <a:avLst/>
          </a:prstGeom>
          <a:noFill/>
          <a:ln w="21600">
            <a:solidFill>
              <a:srgbClr val="0033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0" cy="3200400"/>
          </a:xfrm>
          <a:prstGeom prst="rect">
            <a:avLst/>
          </a:prstGeom>
          <a:solidFill>
            <a:srgbClr val="FFFFFF"/>
          </a:solidFill>
          <a:ln w="18000">
            <a:solidFill>
              <a:srgbClr val="0033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0" cy="396000"/>
          </a:xfrm>
          <a:prstGeom prst="rect">
            <a:avLst/>
          </a:prstGeom>
          <a:solidFill>
            <a:srgbClr val="003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" y="18000"/>
            <a:ext cx="16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" b="1">
                <a:solidFill>
                  <a:srgbClr val="FFFFFF"/>
                </a:solidFill>
              </a:rPr>
              <a:t>FORÇA AZUL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" y="198000"/>
            <a:ext cx="2214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FFCC00"/>
                </a:solidFill>
              </a:rPr>
              <a:t>✈ Aéreo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396000"/>
            <a:ext cx="2286000" cy="28800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000" y="403200"/>
            <a:ext cx="2214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PATMAR2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4000"/>
            <a:ext cx="2286000" cy="216000"/>
          </a:xfrm>
          <a:prstGeom prst="rect">
            <a:avLst/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000" y="691200"/>
            <a:ext cx="2214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003380"/>
                </a:solidFill>
              </a:rPr>
              <a:t>Patrulha Marítima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000" y="918000"/>
            <a:ext cx="2178000" cy="504000"/>
          </a:xfrm>
          <a:prstGeom prst="rect">
            <a:avLst/>
          </a:prstGeom>
          <a:solidFill>
            <a:srgbClr val="F0F0F0"/>
          </a:solidFill>
          <a:ln w="1080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000" y="936000"/>
            <a:ext cx="2178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005BB5"/>
                </a:solidFill>
              </a:rPr>
              <a:t>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000" y="1314000"/>
            <a:ext cx="217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50" b="0">
                <a:solidFill>
                  <a:srgbClr val="333333"/>
                </a:solidFill>
              </a:rPr>
              <a:t>2× Patrulha Marítima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1458000"/>
            <a:ext cx="2286000" cy="162000"/>
          </a:xfrm>
          <a:prstGeom prst="rect">
            <a:avLst/>
          </a:prstGeom>
          <a:solidFill>
            <a:srgbClr val="003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000" y="14688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FFFFFF"/>
                </a:solidFill>
              </a:rPr>
              <a:t>ATRIBUTOS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16200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000" y="16308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Staying Power (HP)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6000" y="16308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000" y="18216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18288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000" y="18396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Movimento (hexes/turno)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6000" y="18396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16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000" y="20304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20376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000" y="20484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Detecção (melhor)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6000" y="20484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000" y="22392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22464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000" y="22572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Alcance Ataque (melhor)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86000" y="22572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000" y="24480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24552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000" y="24660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Armamento (total)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86000" y="24660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000" y="26568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26640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000" y="26748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Combustível (FP)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86000" y="26748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16 FP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000" y="28656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2880000"/>
            <a:ext cx="2286000" cy="16200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000" y="28872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</a:rPr>
              <a:t>CAPACIDADES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3042000"/>
            <a:ext cx="2286000" cy="252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000" y="3052800"/>
            <a:ext cx="2178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>
                <a:solidFill>
                  <a:srgbClr val="333333"/>
                </a:solidFill>
              </a:rPr>
              <a:t>ASW: 2  |  Ataque Aéreo: 2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3294000"/>
            <a:ext cx="2286000" cy="16200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000" y="33012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</a:rPr>
              <a:t>ARMAMENTO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3456000"/>
            <a:ext cx="2286000" cy="2880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4000" y="3466800"/>
            <a:ext cx="2178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50" b="0">
                <a:solidFill>
                  <a:srgbClr val="333333"/>
                </a:solidFill>
              </a:rPr>
              <a:t>MSS ×4 (R:2)  |  Torpedo ×2 (R:2)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3744000"/>
            <a:ext cx="2286000" cy="-543600"/>
          </a:xfrm>
          <a:prstGeom prst="rect">
            <a:avLst/>
          </a:prstGeom>
          <a:solidFill>
            <a:srgbClr val="003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000" y="3762000"/>
            <a:ext cx="2178000" cy="-57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0">
                <a:solidFill>
                  <a:srgbClr val="FFFFFF"/>
                </a:solidFill>
              </a:rPr>
              <a:t>ℹ P-3AM Orion. Base Vitória.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0"/>
            <a:ext cx="2286000" cy="3200400"/>
          </a:xfrm>
          <a:prstGeom prst="rect">
            <a:avLst/>
          </a:prstGeom>
          <a:noFill/>
          <a:ln w="21600">
            <a:solidFill>
              <a:srgbClr val="0033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0" cy="3200400"/>
          </a:xfrm>
          <a:prstGeom prst="rect">
            <a:avLst/>
          </a:prstGeom>
          <a:solidFill>
            <a:srgbClr val="FFFFFF"/>
          </a:solidFill>
          <a:ln w="18000">
            <a:solidFill>
              <a:srgbClr val="0033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0" cy="396000"/>
          </a:xfrm>
          <a:prstGeom prst="rect">
            <a:avLst/>
          </a:prstGeom>
          <a:solidFill>
            <a:srgbClr val="003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" y="18000"/>
            <a:ext cx="16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" b="1">
                <a:solidFill>
                  <a:srgbClr val="FFFFFF"/>
                </a:solidFill>
              </a:rPr>
              <a:t>FORÇA AZUL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" y="198000"/>
            <a:ext cx="2214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FFCC00"/>
                </a:solidFill>
              </a:rPr>
              <a:t>✈ Aéreo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396000"/>
            <a:ext cx="2286000" cy="28800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000" y="403200"/>
            <a:ext cx="2214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PAC1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4000"/>
            <a:ext cx="2286000" cy="216000"/>
          </a:xfrm>
          <a:prstGeom prst="rect">
            <a:avLst/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000" y="691200"/>
            <a:ext cx="2214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003380"/>
                </a:solidFill>
              </a:rPr>
              <a:t>Esquadrão de Caça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000" y="918000"/>
            <a:ext cx="2178000" cy="504000"/>
          </a:xfrm>
          <a:prstGeom prst="rect">
            <a:avLst/>
          </a:prstGeom>
          <a:solidFill>
            <a:srgbClr val="F0F0F0"/>
          </a:solidFill>
          <a:ln w="1080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000" y="936000"/>
            <a:ext cx="2178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005BB5"/>
                </a:solidFill>
              </a:rPr>
              <a:t>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000" y="1314000"/>
            <a:ext cx="217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50" b="0">
                <a:solidFill>
                  <a:srgbClr val="333333"/>
                </a:solidFill>
              </a:rPr>
              <a:t>6× Caça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1458000"/>
            <a:ext cx="2286000" cy="162000"/>
          </a:xfrm>
          <a:prstGeom prst="rect">
            <a:avLst/>
          </a:prstGeom>
          <a:solidFill>
            <a:srgbClr val="003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000" y="14688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FFFFFF"/>
                </a:solidFill>
              </a:rPr>
              <a:t>ATRIBUTOS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16200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000" y="16308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Staying Power (HP)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6000" y="16308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000" y="18216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18288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000" y="18396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Movimento (hexes/turno)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6000" y="18396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000" y="20304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20376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000" y="20484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Detecção (melhor)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6000" y="20484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000" y="22392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22464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000" y="22572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Alcance Ataque (melhor)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86000" y="22572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000" y="24480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24552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000" y="24660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Armamento (total)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86000" y="24660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—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000" y="26568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26640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000" y="26748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Combustível (FP)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86000" y="26748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8 FP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000" y="28656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2880000"/>
            <a:ext cx="2286000" cy="16200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000" y="28872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</a:rPr>
              <a:t>CAPACIDADES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3042000"/>
            <a:ext cx="2286000" cy="252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000" y="3052800"/>
            <a:ext cx="2178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>
                <a:solidFill>
                  <a:srgbClr val="333333"/>
                </a:solidFill>
              </a:rPr>
              <a:t>Def. Aérea: 6  |  Ataque Aéreo: 6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3294000"/>
            <a:ext cx="2286000" cy="16200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000" y="33012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</a:rPr>
              <a:t>ARMAMENTO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3456000"/>
            <a:ext cx="2286000" cy="2880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4000" y="3466800"/>
            <a:ext cx="2178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50" b="0">
                <a:solidFill>
                  <a:srgbClr val="333333"/>
                </a:solidFill>
              </a:rPr>
              <a:t>—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3744000"/>
            <a:ext cx="2286000" cy="-543600"/>
          </a:xfrm>
          <a:prstGeom prst="rect">
            <a:avLst/>
          </a:prstGeom>
          <a:solidFill>
            <a:srgbClr val="003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000" y="3762000"/>
            <a:ext cx="2178000" cy="-57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0">
                <a:solidFill>
                  <a:srgbClr val="FFFFFF"/>
                </a:solidFill>
              </a:rPr>
              <a:t>ℹ F-39E Gripen 5ª ger. Base RJ.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0"/>
            <a:ext cx="2286000" cy="3200400"/>
          </a:xfrm>
          <a:prstGeom prst="rect">
            <a:avLst/>
          </a:prstGeom>
          <a:noFill/>
          <a:ln w="21600">
            <a:solidFill>
              <a:srgbClr val="0033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0" cy="3200400"/>
          </a:xfrm>
          <a:prstGeom prst="rect">
            <a:avLst/>
          </a:prstGeom>
          <a:solidFill>
            <a:srgbClr val="FFFFFF"/>
          </a:solidFill>
          <a:ln w="18000">
            <a:solidFill>
              <a:srgbClr val="0033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0" cy="396000"/>
          </a:xfrm>
          <a:prstGeom prst="rect">
            <a:avLst/>
          </a:prstGeom>
          <a:solidFill>
            <a:srgbClr val="003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" y="18000"/>
            <a:ext cx="16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" b="1">
                <a:solidFill>
                  <a:srgbClr val="FFFFFF"/>
                </a:solidFill>
              </a:rPr>
              <a:t>FORÇA AZUL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" y="198000"/>
            <a:ext cx="2214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FFCC00"/>
                </a:solidFill>
              </a:rPr>
              <a:t>✈ Aéreo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396000"/>
            <a:ext cx="2286000" cy="28800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000" y="403200"/>
            <a:ext cx="2214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PAC2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4000"/>
            <a:ext cx="2286000" cy="216000"/>
          </a:xfrm>
          <a:prstGeom prst="rect">
            <a:avLst/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000" y="691200"/>
            <a:ext cx="2214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003380"/>
                </a:solidFill>
              </a:rPr>
              <a:t>Esquadrão de Caça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000" y="918000"/>
            <a:ext cx="2178000" cy="504000"/>
          </a:xfrm>
          <a:prstGeom prst="rect">
            <a:avLst/>
          </a:prstGeom>
          <a:solidFill>
            <a:srgbClr val="F0F0F0"/>
          </a:solidFill>
          <a:ln w="1080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000" y="936000"/>
            <a:ext cx="2178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005BB5"/>
                </a:solidFill>
              </a:rPr>
              <a:t>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000" y="1314000"/>
            <a:ext cx="217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50" b="0">
                <a:solidFill>
                  <a:srgbClr val="333333"/>
                </a:solidFill>
              </a:rPr>
              <a:t>6× Caça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1458000"/>
            <a:ext cx="2286000" cy="162000"/>
          </a:xfrm>
          <a:prstGeom prst="rect">
            <a:avLst/>
          </a:prstGeom>
          <a:solidFill>
            <a:srgbClr val="003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000" y="14688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FFFFFF"/>
                </a:solidFill>
              </a:rPr>
              <a:t>ATRIBUTOS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16200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000" y="16308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Staying Power (HP)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6000" y="16308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000" y="18216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18288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000" y="18396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Movimento (hexes/turno)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6000" y="18396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000" y="20304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20376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000" y="20484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Detecção (melhor)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6000" y="20484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000" y="22392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22464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000" y="22572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Alcance Ataque (melhor)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86000" y="22572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000" y="24480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24552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000" y="24660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Armamento (total)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86000" y="24660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—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000" y="26568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26640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000" y="26748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Combustível (FP)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86000" y="26748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8 FP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000" y="28656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2880000"/>
            <a:ext cx="2286000" cy="16200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000" y="28872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</a:rPr>
              <a:t>CAPACIDADES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3042000"/>
            <a:ext cx="2286000" cy="252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000" y="3052800"/>
            <a:ext cx="2178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>
                <a:solidFill>
                  <a:srgbClr val="333333"/>
                </a:solidFill>
              </a:rPr>
              <a:t>Def. Aérea: 6  |  Ataque Aéreo: 6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3294000"/>
            <a:ext cx="2286000" cy="16200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000" y="33012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</a:rPr>
              <a:t>ARMAMENTO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3456000"/>
            <a:ext cx="2286000" cy="2880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4000" y="3466800"/>
            <a:ext cx="2178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50" b="0">
                <a:solidFill>
                  <a:srgbClr val="333333"/>
                </a:solidFill>
              </a:rPr>
              <a:t>—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3744000"/>
            <a:ext cx="2286000" cy="-543600"/>
          </a:xfrm>
          <a:prstGeom prst="rect">
            <a:avLst/>
          </a:prstGeom>
          <a:solidFill>
            <a:srgbClr val="003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000" y="3762000"/>
            <a:ext cx="2178000" cy="-57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0">
                <a:solidFill>
                  <a:srgbClr val="FFFFFF"/>
                </a:solidFill>
              </a:rPr>
              <a:t>ℹ F-39E Gripen 5ª ger. Base Santos.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0"/>
            <a:ext cx="2286000" cy="3200400"/>
          </a:xfrm>
          <a:prstGeom prst="rect">
            <a:avLst/>
          </a:prstGeom>
          <a:noFill/>
          <a:ln w="21600">
            <a:solidFill>
              <a:srgbClr val="0033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0" cy="3200400"/>
          </a:xfrm>
          <a:prstGeom prst="rect">
            <a:avLst/>
          </a:prstGeom>
          <a:solidFill>
            <a:srgbClr val="FFFFFF"/>
          </a:solidFill>
          <a:ln w="18000">
            <a:solidFill>
              <a:srgbClr val="0033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0" cy="396000"/>
          </a:xfrm>
          <a:prstGeom prst="rect">
            <a:avLst/>
          </a:prstGeom>
          <a:solidFill>
            <a:srgbClr val="003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" y="18000"/>
            <a:ext cx="16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" b="1">
                <a:solidFill>
                  <a:srgbClr val="FFFFFF"/>
                </a:solidFill>
              </a:rPr>
              <a:t>FORÇA AZUL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" y="198000"/>
            <a:ext cx="2214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FFCC00"/>
                </a:solidFill>
              </a:rPr>
              <a:t>✈ Aéreo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396000"/>
            <a:ext cx="2286000" cy="28800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000" y="403200"/>
            <a:ext cx="2214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APAER1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4000"/>
            <a:ext cx="2286000" cy="216000"/>
          </a:xfrm>
          <a:prstGeom prst="rect">
            <a:avLst/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000" y="691200"/>
            <a:ext cx="2214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003380"/>
                </a:solidFill>
              </a:rPr>
              <a:t>Ataque Embarcado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000" y="918000"/>
            <a:ext cx="2178000" cy="504000"/>
          </a:xfrm>
          <a:prstGeom prst="rect">
            <a:avLst/>
          </a:prstGeom>
          <a:solidFill>
            <a:srgbClr val="F0F0F0"/>
          </a:solidFill>
          <a:ln w="1080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000" y="936000"/>
            <a:ext cx="2178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005BB5"/>
                </a:solidFill>
              </a:rPr>
              <a:t>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000" y="1314000"/>
            <a:ext cx="217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50" b="0">
                <a:solidFill>
                  <a:srgbClr val="333333"/>
                </a:solidFill>
              </a:rPr>
              <a:t>2× Ataque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1458000"/>
            <a:ext cx="2286000" cy="162000"/>
          </a:xfrm>
          <a:prstGeom prst="rect">
            <a:avLst/>
          </a:prstGeom>
          <a:solidFill>
            <a:srgbClr val="003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000" y="14688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FFFFFF"/>
                </a:solidFill>
              </a:rPr>
              <a:t>ATRIBUTOS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16200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000" y="16308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Staying Power (HP)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6000" y="16308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000" y="18216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18288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000" y="18396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Movimento (hexes/turno)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6000" y="18396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6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000" y="20304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20376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000" y="20484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Detecção (melhor)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6000" y="20484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000" y="22392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22464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000" y="22572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Alcance Ataque (melhor)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86000" y="22572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000" y="24480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24552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000" y="24660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Armamento (total)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86000" y="24660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8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000" y="26568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26640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000" y="26748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Combustível (FP)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86000" y="26748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6 FP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000" y="28656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2880000"/>
            <a:ext cx="2286000" cy="16200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000" y="28872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</a:rPr>
              <a:t>CAPACIDADES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3042000"/>
            <a:ext cx="2286000" cy="252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000" y="3052800"/>
            <a:ext cx="2178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>
                <a:solidFill>
                  <a:srgbClr val="333333"/>
                </a:solidFill>
              </a:rPr>
              <a:t>Ataque Aéreo: 2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3294000"/>
            <a:ext cx="2286000" cy="16200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000" y="33012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</a:rPr>
              <a:t>ARMAMENTO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3456000"/>
            <a:ext cx="2286000" cy="2880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4000" y="3466800"/>
            <a:ext cx="2178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50" b="0">
                <a:solidFill>
                  <a:srgbClr val="333333"/>
                </a:solidFill>
              </a:rPr>
              <a:t>ASCM ×4 (R:6)  |  MSS ×2 (R:2)  |  LACM ×2 (R:10)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3744000"/>
            <a:ext cx="2286000" cy="-543600"/>
          </a:xfrm>
          <a:prstGeom prst="rect">
            <a:avLst/>
          </a:prstGeom>
          <a:solidFill>
            <a:srgbClr val="003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000" y="3762000"/>
            <a:ext cx="2178000" cy="-57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0">
                <a:solidFill>
                  <a:srgbClr val="FFFFFF"/>
                </a:solidFill>
              </a:rPr>
              <a:t>ℹ AF-1 A-4 Skyhawk. Buddy-tank. Base Santos/NAM.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0"/>
            <a:ext cx="2286000" cy="3200400"/>
          </a:xfrm>
          <a:prstGeom prst="rect">
            <a:avLst/>
          </a:prstGeom>
          <a:noFill/>
          <a:ln w="21600">
            <a:solidFill>
              <a:srgbClr val="0033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0" cy="3200400"/>
          </a:xfrm>
          <a:prstGeom prst="rect">
            <a:avLst/>
          </a:prstGeom>
          <a:solidFill>
            <a:srgbClr val="FFFFFF"/>
          </a:solidFill>
          <a:ln w="18000">
            <a:solidFill>
              <a:srgbClr val="0033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0" cy="396000"/>
          </a:xfrm>
          <a:prstGeom prst="rect">
            <a:avLst/>
          </a:prstGeom>
          <a:solidFill>
            <a:srgbClr val="003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" y="18000"/>
            <a:ext cx="16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" b="1">
                <a:solidFill>
                  <a:srgbClr val="FFFFFF"/>
                </a:solidFill>
              </a:rPr>
              <a:t>FORÇA AZUL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" y="198000"/>
            <a:ext cx="2214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FFCC00"/>
                </a:solidFill>
              </a:rPr>
              <a:t>✈ Aéreo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396000"/>
            <a:ext cx="2286000" cy="28800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000" y="403200"/>
            <a:ext cx="2214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APAER2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4000"/>
            <a:ext cx="2286000" cy="216000"/>
          </a:xfrm>
          <a:prstGeom prst="rect">
            <a:avLst/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000" y="691200"/>
            <a:ext cx="2214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003380"/>
                </a:solidFill>
              </a:rPr>
              <a:t>Ataque Embarcado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000" y="918000"/>
            <a:ext cx="2178000" cy="504000"/>
          </a:xfrm>
          <a:prstGeom prst="rect">
            <a:avLst/>
          </a:prstGeom>
          <a:solidFill>
            <a:srgbClr val="F0F0F0"/>
          </a:solidFill>
          <a:ln w="1080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000" y="936000"/>
            <a:ext cx="2178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005BB5"/>
                </a:solidFill>
              </a:rPr>
              <a:t>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000" y="1314000"/>
            <a:ext cx="217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50" b="0">
                <a:solidFill>
                  <a:srgbClr val="333333"/>
                </a:solidFill>
              </a:rPr>
              <a:t>2× Ataque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1458000"/>
            <a:ext cx="2286000" cy="162000"/>
          </a:xfrm>
          <a:prstGeom prst="rect">
            <a:avLst/>
          </a:prstGeom>
          <a:solidFill>
            <a:srgbClr val="003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000" y="14688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FFFFFF"/>
                </a:solidFill>
              </a:rPr>
              <a:t>ATRIBUTOS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16200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000" y="16308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Staying Power (HP)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6000" y="16308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000" y="18216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18288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000" y="18396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Movimento (hexes/turno)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6000" y="18396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6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000" y="20304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20376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000" y="20484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Detecção (melhor)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6000" y="20484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000" y="22392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22464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000" y="22572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Alcance Ataque (melhor)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86000" y="22572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000" y="24480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24552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000" y="24660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Armamento (total)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86000" y="24660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8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000" y="26568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26640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000" y="26748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Combustível (FP)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86000" y="26748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6 FP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000" y="28656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2880000"/>
            <a:ext cx="2286000" cy="16200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000" y="28872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</a:rPr>
              <a:t>CAPACIDADES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3042000"/>
            <a:ext cx="2286000" cy="252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000" y="3052800"/>
            <a:ext cx="2178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>
                <a:solidFill>
                  <a:srgbClr val="333333"/>
                </a:solidFill>
              </a:rPr>
              <a:t>Ataque Aéreo: 2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3294000"/>
            <a:ext cx="2286000" cy="16200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000" y="33012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</a:rPr>
              <a:t>ARMAMENTO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3456000"/>
            <a:ext cx="2286000" cy="2880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4000" y="3466800"/>
            <a:ext cx="2178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50" b="0">
                <a:solidFill>
                  <a:srgbClr val="333333"/>
                </a:solidFill>
              </a:rPr>
              <a:t>ASCM ×4 (R:6)  |  MSS ×2 (R:2)  |  LACM ×2 (R:10)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3744000"/>
            <a:ext cx="2286000" cy="-543600"/>
          </a:xfrm>
          <a:prstGeom prst="rect">
            <a:avLst/>
          </a:prstGeom>
          <a:solidFill>
            <a:srgbClr val="003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000" y="3762000"/>
            <a:ext cx="2178000" cy="-57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0">
                <a:solidFill>
                  <a:srgbClr val="FFFFFF"/>
                </a:solidFill>
              </a:rPr>
              <a:t>ℹ AF-1 A-4 Skyhawk. Base Vitória.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0"/>
            <a:ext cx="2286000" cy="3200400"/>
          </a:xfrm>
          <a:prstGeom prst="rect">
            <a:avLst/>
          </a:prstGeom>
          <a:noFill/>
          <a:ln w="21600">
            <a:solidFill>
              <a:srgbClr val="0033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0" cy="3200400"/>
          </a:xfrm>
          <a:prstGeom prst="rect">
            <a:avLst/>
          </a:prstGeom>
          <a:solidFill>
            <a:srgbClr val="FFFFFF"/>
          </a:solidFill>
          <a:ln w="18000">
            <a:solidFill>
              <a:srgbClr val="0033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0" cy="396000"/>
          </a:xfrm>
          <a:prstGeom prst="rect">
            <a:avLst/>
          </a:prstGeom>
          <a:solidFill>
            <a:srgbClr val="003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" y="18000"/>
            <a:ext cx="16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" b="1">
                <a:solidFill>
                  <a:srgbClr val="FFFFFF"/>
                </a:solidFill>
              </a:rPr>
              <a:t>FORÇA AZUL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" y="198000"/>
            <a:ext cx="2214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FFCC00"/>
                </a:solidFill>
              </a:rPr>
              <a:t>⬛ Terra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396000"/>
            <a:ext cx="2286000" cy="28800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000" y="403200"/>
            <a:ext cx="2214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DEFCOST1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4000"/>
            <a:ext cx="2286000" cy="216000"/>
          </a:xfrm>
          <a:prstGeom prst="rect">
            <a:avLst/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000" y="691200"/>
            <a:ext cx="2214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003380"/>
                </a:solidFill>
              </a:rPr>
              <a:t>Defesa Costeira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000" y="918000"/>
            <a:ext cx="2178000" cy="504000"/>
          </a:xfrm>
          <a:prstGeom prst="rect">
            <a:avLst/>
          </a:prstGeom>
          <a:solidFill>
            <a:srgbClr val="F0F0F0"/>
          </a:solidFill>
          <a:ln w="1080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000" y="936000"/>
            <a:ext cx="2178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005BB5"/>
                </a:solidFill>
              </a:rPr>
              <a:t>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000" y="1314000"/>
            <a:ext cx="217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50" b="0">
                <a:solidFill>
                  <a:srgbClr val="333333"/>
                </a:solidFill>
              </a:rPr>
              <a:t>2× Bateria Costeira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1458000"/>
            <a:ext cx="2286000" cy="162000"/>
          </a:xfrm>
          <a:prstGeom prst="rect">
            <a:avLst/>
          </a:prstGeom>
          <a:solidFill>
            <a:srgbClr val="003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000" y="14688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FFFFFF"/>
                </a:solidFill>
              </a:rPr>
              <a:t>ATRIBUTOS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16200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000" y="16308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Staying Power (HP)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6000" y="16308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000" y="18216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18288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000" y="18396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Movimento (hexes/turno)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6000" y="18396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000" y="20304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20376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000" y="20484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Detecção (melhor)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6000" y="20484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000" y="22392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22464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000" y="22572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Alcance Ataque (melhor)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86000" y="22572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000" y="24480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24552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000" y="24660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Armamento (total)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86000" y="24660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10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000" y="26568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26640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000" y="26748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Combustível (FP)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86000" y="26748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—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000" y="28656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2880000"/>
            <a:ext cx="2286000" cy="16200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000" y="28872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</a:rPr>
              <a:t>CAPACIDADES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3042000"/>
            <a:ext cx="2286000" cy="252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000" y="3052800"/>
            <a:ext cx="2178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>
                <a:solidFill>
                  <a:srgbClr val="333333"/>
                </a:solidFill>
              </a:rPr>
              <a:t>Def. Aérea: 2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3294000"/>
            <a:ext cx="2286000" cy="16200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000" y="33012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</a:rPr>
              <a:t>ARMAMENTO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3456000"/>
            <a:ext cx="2286000" cy="2880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4000" y="3466800"/>
            <a:ext cx="2178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50" b="0">
                <a:solidFill>
                  <a:srgbClr val="333333"/>
                </a:solidFill>
              </a:rPr>
              <a:t>MSS ×10 (R:3)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3744000"/>
            <a:ext cx="2286000" cy="-543600"/>
          </a:xfrm>
          <a:prstGeom prst="rect">
            <a:avLst/>
          </a:prstGeom>
          <a:solidFill>
            <a:srgbClr val="003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000" y="3762000"/>
            <a:ext cx="2178000" cy="-57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0">
                <a:solidFill>
                  <a:srgbClr val="FFFFFF"/>
                </a:solidFill>
              </a:rPr>
              <a:t>ℹ 2× Baterias MANSUP-ER. Fixo.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0"/>
            <a:ext cx="2286000" cy="3200400"/>
          </a:xfrm>
          <a:prstGeom prst="rect">
            <a:avLst/>
          </a:prstGeom>
          <a:noFill/>
          <a:ln w="21600">
            <a:solidFill>
              <a:srgbClr val="0033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0" cy="3200400"/>
          </a:xfrm>
          <a:prstGeom prst="rect">
            <a:avLst/>
          </a:prstGeom>
          <a:solidFill>
            <a:srgbClr val="FFFFFF"/>
          </a:solidFill>
          <a:ln w="18000">
            <a:solidFill>
              <a:srgbClr val="0033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0" cy="396000"/>
          </a:xfrm>
          <a:prstGeom prst="rect">
            <a:avLst/>
          </a:prstGeom>
          <a:solidFill>
            <a:srgbClr val="003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" y="18000"/>
            <a:ext cx="16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" b="1">
                <a:solidFill>
                  <a:srgbClr val="FFFFFF"/>
                </a:solidFill>
              </a:rPr>
              <a:t>FORÇA AZUL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" y="198000"/>
            <a:ext cx="2214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FFCC00"/>
                </a:solidFill>
              </a:rPr>
              <a:t>⬛ Terra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396000"/>
            <a:ext cx="2286000" cy="28800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000" y="403200"/>
            <a:ext cx="2214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DEFCOST2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4000"/>
            <a:ext cx="2286000" cy="216000"/>
          </a:xfrm>
          <a:prstGeom prst="rect">
            <a:avLst/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000" y="691200"/>
            <a:ext cx="2214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003380"/>
                </a:solidFill>
              </a:rPr>
              <a:t>Defesa Costeira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000" y="918000"/>
            <a:ext cx="2178000" cy="504000"/>
          </a:xfrm>
          <a:prstGeom prst="rect">
            <a:avLst/>
          </a:prstGeom>
          <a:solidFill>
            <a:srgbClr val="F0F0F0"/>
          </a:solidFill>
          <a:ln w="1080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000" y="936000"/>
            <a:ext cx="2178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005BB5"/>
                </a:solidFill>
              </a:rPr>
              <a:t>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000" y="1314000"/>
            <a:ext cx="217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50" b="0">
                <a:solidFill>
                  <a:srgbClr val="333333"/>
                </a:solidFill>
              </a:rPr>
              <a:t>2× Bateria Costeira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1458000"/>
            <a:ext cx="2286000" cy="162000"/>
          </a:xfrm>
          <a:prstGeom prst="rect">
            <a:avLst/>
          </a:prstGeom>
          <a:solidFill>
            <a:srgbClr val="003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000" y="14688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FFFFFF"/>
                </a:solidFill>
              </a:rPr>
              <a:t>ATRIBUTOS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16200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000" y="16308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Staying Power (HP)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6000" y="16308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000" y="18216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18288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000" y="18396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Movimento (hexes/turno)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6000" y="18396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000" y="20304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20376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000" y="20484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Detecção (melhor)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6000" y="20484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000" y="22392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22464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000" y="22572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Alcance Ataque (melhor)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86000" y="22572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000" y="24480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24552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000" y="24660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Armamento (total)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86000" y="24660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10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000" y="26568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26640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000" y="26748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Combustível (FP)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86000" y="26748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—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000" y="28656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2880000"/>
            <a:ext cx="2286000" cy="16200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000" y="28872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</a:rPr>
              <a:t>CAPACIDADES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3042000"/>
            <a:ext cx="2286000" cy="252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000" y="3052800"/>
            <a:ext cx="2178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>
                <a:solidFill>
                  <a:srgbClr val="333333"/>
                </a:solidFill>
              </a:rPr>
              <a:t>Def. Aérea: 2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3294000"/>
            <a:ext cx="2286000" cy="16200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000" y="33012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</a:rPr>
              <a:t>ARMAMENTO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3456000"/>
            <a:ext cx="2286000" cy="2880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4000" y="3466800"/>
            <a:ext cx="2178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50" b="0">
                <a:solidFill>
                  <a:srgbClr val="333333"/>
                </a:solidFill>
              </a:rPr>
              <a:t>MSS ×10 (R:3)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3744000"/>
            <a:ext cx="2286000" cy="-543600"/>
          </a:xfrm>
          <a:prstGeom prst="rect">
            <a:avLst/>
          </a:prstGeom>
          <a:solidFill>
            <a:srgbClr val="003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000" y="3762000"/>
            <a:ext cx="2178000" cy="-57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0">
                <a:solidFill>
                  <a:srgbClr val="FFFFFF"/>
                </a:solidFill>
              </a:rPr>
              <a:t>ℹ 2× Baterias MANSUP-ER. Fixo.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0"/>
            <a:ext cx="2286000" cy="3200400"/>
          </a:xfrm>
          <a:prstGeom prst="rect">
            <a:avLst/>
          </a:prstGeom>
          <a:noFill/>
          <a:ln w="21600">
            <a:solidFill>
              <a:srgbClr val="0033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0" cy="3200400"/>
          </a:xfrm>
          <a:prstGeom prst="rect">
            <a:avLst/>
          </a:prstGeom>
          <a:solidFill>
            <a:srgbClr val="FFFFFF"/>
          </a:solidFill>
          <a:ln w="18000">
            <a:solidFill>
              <a:srgbClr val="0033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0" cy="396000"/>
          </a:xfrm>
          <a:prstGeom prst="rect">
            <a:avLst/>
          </a:prstGeom>
          <a:solidFill>
            <a:srgbClr val="003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" y="18000"/>
            <a:ext cx="16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" b="1">
                <a:solidFill>
                  <a:srgbClr val="FFFFFF"/>
                </a:solidFill>
              </a:rPr>
              <a:t>FORÇA AZUL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" y="198000"/>
            <a:ext cx="2214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FFCC00"/>
                </a:solidFill>
              </a:rPr>
              <a:t>⬛ Terra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396000"/>
            <a:ext cx="2286000" cy="28800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000" y="403200"/>
            <a:ext cx="2214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BDA1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4000"/>
            <a:ext cx="2286000" cy="216000"/>
          </a:xfrm>
          <a:prstGeom prst="rect">
            <a:avLst/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000" y="691200"/>
            <a:ext cx="2214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003380"/>
                </a:solidFill>
              </a:rPr>
              <a:t>Batalhão ADA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000" y="918000"/>
            <a:ext cx="2178000" cy="504000"/>
          </a:xfrm>
          <a:prstGeom prst="rect">
            <a:avLst/>
          </a:prstGeom>
          <a:solidFill>
            <a:srgbClr val="F0F0F0"/>
          </a:solidFill>
          <a:ln w="1080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000" y="936000"/>
            <a:ext cx="2178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005BB5"/>
                </a:solidFill>
              </a:rPr>
              <a:t>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000" y="1314000"/>
            <a:ext cx="217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50" b="0">
                <a:solidFill>
                  <a:srgbClr val="333333"/>
                </a:solidFill>
              </a:rPr>
              <a:t>2× Batalhão ADA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1458000"/>
            <a:ext cx="2286000" cy="162000"/>
          </a:xfrm>
          <a:prstGeom prst="rect">
            <a:avLst/>
          </a:prstGeom>
          <a:solidFill>
            <a:srgbClr val="003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000" y="14688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FFFFFF"/>
                </a:solidFill>
              </a:rPr>
              <a:t>ATRIBUTOS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16200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000" y="16308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Staying Power (HP)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6000" y="16308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000" y="18216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18288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000" y="18396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Movimento (hexes/turno)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6000" y="18396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000" y="20304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20376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000" y="20484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Detecção (melhor)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6000" y="20484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000" y="22392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22464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000" y="22572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Alcance Ataque (melhor)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86000" y="22572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000" y="24480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24552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000" y="24660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Armamento (total)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86000" y="24660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—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000" y="26568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26640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000" y="26748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Combustível (FP)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86000" y="26748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—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000" y="28656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2880000"/>
            <a:ext cx="2286000" cy="16200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000" y="28872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</a:rPr>
              <a:t>CAPACIDADES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3042000"/>
            <a:ext cx="2286000" cy="252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000" y="3052800"/>
            <a:ext cx="2178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>
                <a:solidFill>
                  <a:srgbClr val="333333"/>
                </a:solidFill>
              </a:rPr>
              <a:t>Def. Aérea: 6  |  BMD: 2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3294000"/>
            <a:ext cx="2286000" cy="16200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000" y="33012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</a:rPr>
              <a:t>ARMAMENTO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3456000"/>
            <a:ext cx="2286000" cy="2880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4000" y="3466800"/>
            <a:ext cx="2178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50" b="0">
                <a:solidFill>
                  <a:srgbClr val="333333"/>
                </a:solidFill>
              </a:rPr>
              <a:t>—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3744000"/>
            <a:ext cx="2286000" cy="-543600"/>
          </a:xfrm>
          <a:prstGeom prst="rect">
            <a:avLst/>
          </a:prstGeom>
          <a:solidFill>
            <a:srgbClr val="003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000" y="3762000"/>
            <a:ext cx="2178000" cy="-57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0">
                <a:solidFill>
                  <a:srgbClr val="FFFFFF"/>
                </a:solidFill>
              </a:rPr>
              <a:t>ℹ Btl ADA EB SHORAD/MANPADS. Rio de Janeiro.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0"/>
            <a:ext cx="2286000" cy="3200400"/>
          </a:xfrm>
          <a:prstGeom prst="rect">
            <a:avLst/>
          </a:prstGeom>
          <a:noFill/>
          <a:ln w="21600">
            <a:solidFill>
              <a:srgbClr val="0033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0" cy="3200400"/>
          </a:xfrm>
          <a:prstGeom prst="rect">
            <a:avLst/>
          </a:prstGeom>
          <a:solidFill>
            <a:srgbClr val="FFFFFF"/>
          </a:solidFill>
          <a:ln w="18000">
            <a:solidFill>
              <a:srgbClr val="0033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0" cy="396000"/>
          </a:xfrm>
          <a:prstGeom prst="rect">
            <a:avLst/>
          </a:prstGeom>
          <a:solidFill>
            <a:srgbClr val="003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" y="18000"/>
            <a:ext cx="16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" b="1">
                <a:solidFill>
                  <a:srgbClr val="FFFFFF"/>
                </a:solidFill>
              </a:rPr>
              <a:t>FORÇA AZUL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" y="198000"/>
            <a:ext cx="2214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FFCC00"/>
                </a:solidFill>
              </a:rPr>
              <a:t>⬛ Terra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396000"/>
            <a:ext cx="2286000" cy="28800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000" y="403200"/>
            <a:ext cx="2214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BDA2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4000"/>
            <a:ext cx="2286000" cy="216000"/>
          </a:xfrm>
          <a:prstGeom prst="rect">
            <a:avLst/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000" y="691200"/>
            <a:ext cx="2214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003380"/>
                </a:solidFill>
              </a:rPr>
              <a:t>Batalhão ADA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000" y="918000"/>
            <a:ext cx="2178000" cy="504000"/>
          </a:xfrm>
          <a:prstGeom prst="rect">
            <a:avLst/>
          </a:prstGeom>
          <a:solidFill>
            <a:srgbClr val="F0F0F0"/>
          </a:solidFill>
          <a:ln w="1080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000" y="936000"/>
            <a:ext cx="2178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005BB5"/>
                </a:solidFill>
              </a:rPr>
              <a:t>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000" y="1314000"/>
            <a:ext cx="217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50" b="0">
                <a:solidFill>
                  <a:srgbClr val="333333"/>
                </a:solidFill>
              </a:rPr>
              <a:t>2× Batalhão ADA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1458000"/>
            <a:ext cx="2286000" cy="162000"/>
          </a:xfrm>
          <a:prstGeom prst="rect">
            <a:avLst/>
          </a:prstGeom>
          <a:solidFill>
            <a:srgbClr val="003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000" y="14688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FFFFFF"/>
                </a:solidFill>
              </a:rPr>
              <a:t>ATRIBUTOS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16200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000" y="16308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Staying Power (HP)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6000" y="16308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000" y="18216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18288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000" y="18396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Movimento (hexes/turno)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6000" y="18396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000" y="20304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20376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000" y="20484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Detecção (melhor)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6000" y="20484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000" y="22392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22464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000" y="22572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Alcance Ataque (melhor)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86000" y="22572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000" y="24480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24552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000" y="24660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Armamento (total)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86000" y="24660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—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000" y="26568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26640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000" y="26748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Combustível (FP)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86000" y="26748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—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000" y="28656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2880000"/>
            <a:ext cx="2286000" cy="16200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000" y="28872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</a:rPr>
              <a:t>CAPACIDADES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3042000"/>
            <a:ext cx="2286000" cy="252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000" y="3052800"/>
            <a:ext cx="2178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>
                <a:solidFill>
                  <a:srgbClr val="333333"/>
                </a:solidFill>
              </a:rPr>
              <a:t>Def. Aérea: 6  |  BMD: 2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3294000"/>
            <a:ext cx="2286000" cy="16200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000" y="33012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</a:rPr>
              <a:t>ARMAMENTO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3456000"/>
            <a:ext cx="2286000" cy="2880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4000" y="3466800"/>
            <a:ext cx="2178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50" b="0">
                <a:solidFill>
                  <a:srgbClr val="333333"/>
                </a:solidFill>
              </a:rPr>
              <a:t>—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3744000"/>
            <a:ext cx="2286000" cy="-543600"/>
          </a:xfrm>
          <a:prstGeom prst="rect">
            <a:avLst/>
          </a:prstGeom>
          <a:solidFill>
            <a:srgbClr val="003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000" y="3762000"/>
            <a:ext cx="2178000" cy="-57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0">
                <a:solidFill>
                  <a:srgbClr val="FFFFFF"/>
                </a:solidFill>
              </a:rPr>
              <a:t>ℹ Btl ADA EB GBAD Médio. Santos.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0"/>
            <a:ext cx="2286000" cy="3200400"/>
          </a:xfrm>
          <a:prstGeom prst="rect">
            <a:avLst/>
          </a:prstGeom>
          <a:noFill/>
          <a:ln w="21600">
            <a:solidFill>
              <a:srgbClr val="0033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0" cy="3200400"/>
          </a:xfrm>
          <a:prstGeom prst="rect">
            <a:avLst/>
          </a:prstGeom>
          <a:solidFill>
            <a:srgbClr val="FFFFFF"/>
          </a:solidFill>
          <a:ln w="18000">
            <a:solidFill>
              <a:srgbClr val="0033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0" cy="396000"/>
          </a:xfrm>
          <a:prstGeom prst="rect">
            <a:avLst/>
          </a:prstGeom>
          <a:solidFill>
            <a:srgbClr val="003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" y="18000"/>
            <a:ext cx="16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" b="1">
                <a:solidFill>
                  <a:srgbClr val="FFFFFF"/>
                </a:solidFill>
              </a:rPr>
              <a:t>FORÇA AZUL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" y="198000"/>
            <a:ext cx="2214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FFCC00"/>
                </a:solidFill>
              </a:rPr>
              <a:t>⚓ Superfície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396000"/>
            <a:ext cx="2286000" cy="28800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000" y="403200"/>
            <a:ext cx="2214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FPSO1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4000"/>
            <a:ext cx="2286000" cy="216000"/>
          </a:xfrm>
          <a:prstGeom prst="rect">
            <a:avLst/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000" y="691200"/>
            <a:ext cx="2214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003380"/>
                </a:solidFill>
              </a:rPr>
              <a:t>Plataforma FPSO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000" y="918000"/>
            <a:ext cx="2178000" cy="504000"/>
          </a:xfrm>
          <a:prstGeom prst="rect">
            <a:avLst/>
          </a:prstGeom>
          <a:solidFill>
            <a:srgbClr val="F0F0F0"/>
          </a:solidFill>
          <a:ln w="1080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000" y="936000"/>
            <a:ext cx="2178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005BB5"/>
                </a:solidFill>
              </a:rPr>
              <a:t>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000" y="1314000"/>
            <a:ext cx="217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50" b="0">
                <a:solidFill>
                  <a:srgbClr val="333333"/>
                </a:solidFill>
              </a:rPr>
              <a:t>1× Plataforma FPSO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1458000"/>
            <a:ext cx="2286000" cy="162000"/>
          </a:xfrm>
          <a:prstGeom prst="rect">
            <a:avLst/>
          </a:prstGeom>
          <a:solidFill>
            <a:srgbClr val="003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000" y="14688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FFFFFF"/>
                </a:solidFill>
              </a:rPr>
              <a:t>ATRIBUTOS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16200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000" y="16308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Staying Power (HP)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6000" y="16308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000" y="18216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18288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000" y="18396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Movimento (hexes/turno)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6000" y="18396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000" y="20304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20376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000" y="20484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Detecção (melhor)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6000" y="20484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000" y="22392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22464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000" y="22572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Alcance Ataque (melhor)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86000" y="22572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000" y="24480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24552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000" y="24660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Armamento (total)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86000" y="24660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—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000" y="26568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26640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000" y="26748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Combustível (FP)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86000" y="26748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—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000" y="28656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2880000"/>
            <a:ext cx="2286000" cy="16200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000" y="28872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</a:rPr>
              <a:t>CAPACIDADES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3042000"/>
            <a:ext cx="2286000" cy="252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000" y="3052800"/>
            <a:ext cx="2178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>
                <a:solidFill>
                  <a:srgbClr val="333333"/>
                </a:solidFill>
              </a:rPr>
              <a:t>—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3294000"/>
            <a:ext cx="2286000" cy="16200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000" y="33012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</a:rPr>
              <a:t>ARMAMENTO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3456000"/>
            <a:ext cx="2286000" cy="2880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4000" y="3466800"/>
            <a:ext cx="2178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50" b="0">
                <a:solidFill>
                  <a:srgbClr val="333333"/>
                </a:solidFill>
              </a:rPr>
              <a:t>—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3744000"/>
            <a:ext cx="2286000" cy="-543600"/>
          </a:xfrm>
          <a:prstGeom prst="rect">
            <a:avLst/>
          </a:prstGeom>
          <a:solidFill>
            <a:srgbClr val="003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000" y="3762000"/>
            <a:ext cx="2178000" cy="-57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0">
                <a:solidFill>
                  <a:srgbClr val="FFFFFF"/>
                </a:solidFill>
              </a:rPr>
              <a:t>ℹ Objetivo estratégico. Sem combate.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0"/>
            <a:ext cx="2286000" cy="3200400"/>
          </a:xfrm>
          <a:prstGeom prst="rect">
            <a:avLst/>
          </a:prstGeom>
          <a:noFill/>
          <a:ln w="21600">
            <a:solidFill>
              <a:srgbClr val="0033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0" cy="3200400"/>
          </a:xfrm>
          <a:prstGeom prst="rect">
            <a:avLst/>
          </a:prstGeom>
          <a:solidFill>
            <a:srgbClr val="FFFFFF"/>
          </a:solidFill>
          <a:ln w="18000">
            <a:solidFill>
              <a:srgbClr val="0033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0" cy="396000"/>
          </a:xfrm>
          <a:prstGeom prst="rect">
            <a:avLst/>
          </a:prstGeom>
          <a:solidFill>
            <a:srgbClr val="003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" y="18000"/>
            <a:ext cx="16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" b="1">
                <a:solidFill>
                  <a:srgbClr val="FFFFFF"/>
                </a:solidFill>
              </a:rPr>
              <a:t>FORÇA AZUL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" y="198000"/>
            <a:ext cx="2214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FFCC00"/>
                </a:solidFill>
              </a:rPr>
              <a:t>⚓ Superfície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396000"/>
            <a:ext cx="2286000" cy="28800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000" y="403200"/>
            <a:ext cx="2214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FPSO2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4000"/>
            <a:ext cx="2286000" cy="216000"/>
          </a:xfrm>
          <a:prstGeom prst="rect">
            <a:avLst/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000" y="691200"/>
            <a:ext cx="2214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003380"/>
                </a:solidFill>
              </a:rPr>
              <a:t>Plataforma FPSO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000" y="918000"/>
            <a:ext cx="2178000" cy="504000"/>
          </a:xfrm>
          <a:prstGeom prst="rect">
            <a:avLst/>
          </a:prstGeom>
          <a:solidFill>
            <a:srgbClr val="F0F0F0"/>
          </a:solidFill>
          <a:ln w="1080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000" y="936000"/>
            <a:ext cx="2178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005BB5"/>
                </a:solidFill>
              </a:rPr>
              <a:t>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000" y="1314000"/>
            <a:ext cx="217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50" b="0">
                <a:solidFill>
                  <a:srgbClr val="333333"/>
                </a:solidFill>
              </a:rPr>
              <a:t>1× Plataforma FPSO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1458000"/>
            <a:ext cx="2286000" cy="162000"/>
          </a:xfrm>
          <a:prstGeom prst="rect">
            <a:avLst/>
          </a:prstGeom>
          <a:solidFill>
            <a:srgbClr val="003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000" y="14688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FFFFFF"/>
                </a:solidFill>
              </a:rPr>
              <a:t>ATRIBUTOS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16200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000" y="16308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Staying Power (HP)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6000" y="16308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000" y="18216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18288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000" y="18396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Movimento (hexes/turno)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6000" y="18396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000" y="20304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20376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000" y="20484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Detecção (melhor)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6000" y="20484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000" y="22392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22464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000" y="22572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Alcance Ataque (melhor)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86000" y="22572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000" y="24480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24552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000" y="24660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Armamento (total)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86000" y="24660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—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000" y="26568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26640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000" y="26748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Combustível (FP)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86000" y="26748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—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000" y="28656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2880000"/>
            <a:ext cx="2286000" cy="16200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000" y="28872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</a:rPr>
              <a:t>CAPACIDADES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3042000"/>
            <a:ext cx="2286000" cy="252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000" y="3052800"/>
            <a:ext cx="2178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>
                <a:solidFill>
                  <a:srgbClr val="333333"/>
                </a:solidFill>
              </a:rPr>
              <a:t>—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3294000"/>
            <a:ext cx="2286000" cy="16200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000" y="33012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</a:rPr>
              <a:t>ARMAMENTO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3456000"/>
            <a:ext cx="2286000" cy="2880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4000" y="3466800"/>
            <a:ext cx="2178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50" b="0">
                <a:solidFill>
                  <a:srgbClr val="333333"/>
                </a:solidFill>
              </a:rPr>
              <a:t>—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3744000"/>
            <a:ext cx="2286000" cy="-543600"/>
          </a:xfrm>
          <a:prstGeom prst="rect">
            <a:avLst/>
          </a:prstGeom>
          <a:solidFill>
            <a:srgbClr val="003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000" y="3762000"/>
            <a:ext cx="2178000" cy="-57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0">
                <a:solidFill>
                  <a:srgbClr val="FFFFFF"/>
                </a:solidFill>
              </a:rPr>
              <a:t>ℹ Objetivo estratégico. Sem combate.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0"/>
            <a:ext cx="2286000" cy="3200400"/>
          </a:xfrm>
          <a:prstGeom prst="rect">
            <a:avLst/>
          </a:prstGeom>
          <a:noFill/>
          <a:ln w="21600">
            <a:solidFill>
              <a:srgbClr val="0033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0" cy="3200400"/>
          </a:xfrm>
          <a:prstGeom prst="rect">
            <a:avLst/>
          </a:prstGeom>
          <a:solidFill>
            <a:srgbClr val="FFFFFF"/>
          </a:solidFill>
          <a:ln w="18000">
            <a:solidFill>
              <a:srgbClr val="0033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0" cy="396000"/>
          </a:xfrm>
          <a:prstGeom prst="rect">
            <a:avLst/>
          </a:prstGeom>
          <a:solidFill>
            <a:srgbClr val="003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" y="18000"/>
            <a:ext cx="16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" b="1">
                <a:solidFill>
                  <a:srgbClr val="FFFFFF"/>
                </a:solidFill>
              </a:rPr>
              <a:t>FORÇA AZUL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" y="198000"/>
            <a:ext cx="2214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FFCC00"/>
                </a:solidFill>
              </a:rPr>
              <a:t>⚓ Superfície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396000"/>
            <a:ext cx="2286000" cy="28800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000" y="403200"/>
            <a:ext cx="2214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FPSO3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4000"/>
            <a:ext cx="2286000" cy="216000"/>
          </a:xfrm>
          <a:prstGeom prst="rect">
            <a:avLst/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000" y="691200"/>
            <a:ext cx="2214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003380"/>
                </a:solidFill>
              </a:rPr>
              <a:t>Plataforma FPSO 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000" y="918000"/>
            <a:ext cx="2178000" cy="504000"/>
          </a:xfrm>
          <a:prstGeom prst="rect">
            <a:avLst/>
          </a:prstGeom>
          <a:solidFill>
            <a:srgbClr val="F0F0F0"/>
          </a:solidFill>
          <a:ln w="1080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000" y="936000"/>
            <a:ext cx="2178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005BB5"/>
                </a:solidFill>
              </a:rPr>
              <a:t>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000" y="1314000"/>
            <a:ext cx="217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50" b="0">
                <a:solidFill>
                  <a:srgbClr val="333333"/>
                </a:solidFill>
              </a:rPr>
              <a:t>1× Plataforma FPSO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1458000"/>
            <a:ext cx="2286000" cy="162000"/>
          </a:xfrm>
          <a:prstGeom prst="rect">
            <a:avLst/>
          </a:prstGeom>
          <a:solidFill>
            <a:srgbClr val="003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000" y="14688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FFFFFF"/>
                </a:solidFill>
              </a:rPr>
              <a:t>ATRIBUTOS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16200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000" y="16308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Staying Power (HP)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6000" y="16308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000" y="18216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18288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000" y="18396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Movimento (hexes/turno)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6000" y="18396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000" y="20304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20376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000" y="20484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Detecção (melhor)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6000" y="20484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000" y="22392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22464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000" y="22572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Alcance Ataque (melhor)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86000" y="22572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000" y="24480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24552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000" y="24660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Armamento (total)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86000" y="24660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—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000" y="26568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26640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000" y="26748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Combustível (FP)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86000" y="26748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—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000" y="28656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2880000"/>
            <a:ext cx="2286000" cy="16200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000" y="28872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</a:rPr>
              <a:t>CAPACIDADES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3042000"/>
            <a:ext cx="2286000" cy="252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000" y="3052800"/>
            <a:ext cx="2178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>
                <a:solidFill>
                  <a:srgbClr val="333333"/>
                </a:solidFill>
              </a:rPr>
              <a:t>—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3294000"/>
            <a:ext cx="2286000" cy="16200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000" y="33012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</a:rPr>
              <a:t>ARMAMENTO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3456000"/>
            <a:ext cx="2286000" cy="2880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4000" y="3466800"/>
            <a:ext cx="2178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50" b="0">
                <a:solidFill>
                  <a:srgbClr val="333333"/>
                </a:solidFill>
              </a:rPr>
              <a:t>—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3744000"/>
            <a:ext cx="2286000" cy="-543600"/>
          </a:xfrm>
          <a:prstGeom prst="rect">
            <a:avLst/>
          </a:prstGeom>
          <a:solidFill>
            <a:srgbClr val="003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000" y="3762000"/>
            <a:ext cx="2178000" cy="-57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0">
                <a:solidFill>
                  <a:srgbClr val="FFFFFF"/>
                </a:solidFill>
              </a:rPr>
              <a:t>ℹ Objetivo estratégico. Sem combate.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0"/>
            <a:ext cx="2286000" cy="3200400"/>
          </a:xfrm>
          <a:prstGeom prst="rect">
            <a:avLst/>
          </a:prstGeom>
          <a:noFill/>
          <a:ln w="21600">
            <a:solidFill>
              <a:srgbClr val="0033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0" cy="3200400"/>
          </a:xfrm>
          <a:prstGeom prst="rect">
            <a:avLst/>
          </a:prstGeom>
          <a:solidFill>
            <a:srgbClr val="FFFFFF"/>
          </a:solidFill>
          <a:ln w="18000">
            <a:solidFill>
              <a:srgbClr val="0033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0" cy="396000"/>
          </a:xfrm>
          <a:prstGeom prst="rect">
            <a:avLst/>
          </a:prstGeom>
          <a:solidFill>
            <a:srgbClr val="003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" y="18000"/>
            <a:ext cx="16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" b="1">
                <a:solidFill>
                  <a:srgbClr val="FFFFFF"/>
                </a:solidFill>
              </a:rPr>
              <a:t>FORÇA AZUL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" y="198000"/>
            <a:ext cx="2214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FFCC00"/>
                </a:solidFill>
              </a:rPr>
              <a:t>⚓ Superfície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396000"/>
            <a:ext cx="2286000" cy="28800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000" y="403200"/>
            <a:ext cx="2214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FPSO4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4000"/>
            <a:ext cx="2286000" cy="216000"/>
          </a:xfrm>
          <a:prstGeom prst="rect">
            <a:avLst/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000" y="691200"/>
            <a:ext cx="2214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003380"/>
                </a:solidFill>
              </a:rPr>
              <a:t>Plataforma FPSO 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000" y="918000"/>
            <a:ext cx="2178000" cy="504000"/>
          </a:xfrm>
          <a:prstGeom prst="rect">
            <a:avLst/>
          </a:prstGeom>
          <a:solidFill>
            <a:srgbClr val="F0F0F0"/>
          </a:solidFill>
          <a:ln w="1080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000" y="936000"/>
            <a:ext cx="2178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005BB5"/>
                </a:solidFill>
              </a:rPr>
              <a:t>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000" y="1314000"/>
            <a:ext cx="217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50" b="0">
                <a:solidFill>
                  <a:srgbClr val="333333"/>
                </a:solidFill>
              </a:rPr>
              <a:t>1× Plataforma FPSO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1458000"/>
            <a:ext cx="2286000" cy="162000"/>
          </a:xfrm>
          <a:prstGeom prst="rect">
            <a:avLst/>
          </a:prstGeom>
          <a:solidFill>
            <a:srgbClr val="003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000" y="14688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FFFFFF"/>
                </a:solidFill>
              </a:rPr>
              <a:t>ATRIBUTOS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16200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000" y="16308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Staying Power (HP)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6000" y="16308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000" y="18216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18288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000" y="18396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Movimento (hexes/turno)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6000" y="18396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000" y="20304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20376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000" y="20484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Detecção (melhor)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6000" y="20484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000" y="22392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22464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000" y="22572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Alcance Ataque (melhor)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86000" y="22572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000" y="24480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24552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000" y="24660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Armamento (total)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86000" y="24660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—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000" y="26568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26640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000" y="26748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Combustível (FP)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86000" y="26748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—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000" y="28656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2880000"/>
            <a:ext cx="2286000" cy="16200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000" y="28872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</a:rPr>
              <a:t>CAPACIDADES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3042000"/>
            <a:ext cx="2286000" cy="252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000" y="3052800"/>
            <a:ext cx="2178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>
                <a:solidFill>
                  <a:srgbClr val="333333"/>
                </a:solidFill>
              </a:rPr>
              <a:t>—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3294000"/>
            <a:ext cx="2286000" cy="16200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000" y="33012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</a:rPr>
              <a:t>ARMAMENTO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3456000"/>
            <a:ext cx="2286000" cy="2880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4000" y="3466800"/>
            <a:ext cx="2178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50" b="0">
                <a:solidFill>
                  <a:srgbClr val="333333"/>
                </a:solidFill>
              </a:rPr>
              <a:t>—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3744000"/>
            <a:ext cx="2286000" cy="-543600"/>
          </a:xfrm>
          <a:prstGeom prst="rect">
            <a:avLst/>
          </a:prstGeom>
          <a:solidFill>
            <a:srgbClr val="003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000" y="3762000"/>
            <a:ext cx="2178000" cy="-57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0">
                <a:solidFill>
                  <a:srgbClr val="FFFFFF"/>
                </a:solidFill>
              </a:rPr>
              <a:t>ℹ Objetivo estratégico. Sem combate.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0"/>
            <a:ext cx="2286000" cy="3200400"/>
          </a:xfrm>
          <a:prstGeom prst="rect">
            <a:avLst/>
          </a:prstGeom>
          <a:noFill/>
          <a:ln w="21600">
            <a:solidFill>
              <a:srgbClr val="0033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0" cy="3200400"/>
          </a:xfrm>
          <a:prstGeom prst="rect">
            <a:avLst/>
          </a:prstGeom>
          <a:solidFill>
            <a:srgbClr val="FFFFFF"/>
          </a:solidFill>
          <a:ln w="18000">
            <a:solidFill>
              <a:srgbClr val="0033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0" cy="396000"/>
          </a:xfrm>
          <a:prstGeom prst="rect">
            <a:avLst/>
          </a:prstGeom>
          <a:solidFill>
            <a:srgbClr val="003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" y="18000"/>
            <a:ext cx="16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" b="1">
                <a:solidFill>
                  <a:srgbClr val="FFFFFF"/>
                </a:solidFill>
              </a:rPr>
              <a:t>FORÇA AZUL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" y="198000"/>
            <a:ext cx="2214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FFCC00"/>
                </a:solidFill>
              </a:rPr>
              <a:t>⬛ Terra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396000"/>
            <a:ext cx="2286000" cy="28800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000" y="403200"/>
            <a:ext cx="2214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Pto.Santos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4000"/>
            <a:ext cx="2286000" cy="216000"/>
          </a:xfrm>
          <a:prstGeom prst="rect">
            <a:avLst/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000" y="691200"/>
            <a:ext cx="2214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003380"/>
                </a:solidFill>
              </a:rPr>
              <a:t>Porto de Santos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000" y="918000"/>
            <a:ext cx="2178000" cy="504000"/>
          </a:xfrm>
          <a:prstGeom prst="rect">
            <a:avLst/>
          </a:prstGeom>
          <a:solidFill>
            <a:srgbClr val="F0F0F0"/>
          </a:solidFill>
          <a:ln w="1080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000" y="936000"/>
            <a:ext cx="2178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005BB5"/>
                </a:solidFill>
              </a:rPr>
              <a:t>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000" y="1314000"/>
            <a:ext cx="217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50" b="0">
                <a:solidFill>
                  <a:srgbClr val="333333"/>
                </a:solidFill>
              </a:rPr>
              <a:t>1× Porto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1458000"/>
            <a:ext cx="2286000" cy="162000"/>
          </a:xfrm>
          <a:prstGeom prst="rect">
            <a:avLst/>
          </a:prstGeom>
          <a:solidFill>
            <a:srgbClr val="003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000" y="14688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FFFFFF"/>
                </a:solidFill>
              </a:rPr>
              <a:t>ATRIBUTOS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16200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000" y="16308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Staying Power (HP)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6000" y="16308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20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000" y="18216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18288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000" y="18396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Movimento (hexes/turno)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6000" y="18396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000" y="20304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20376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000" y="20484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Detecção (melhor)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6000" y="20484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000" y="22392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22464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000" y="22572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Alcance Ataque (melhor)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86000" y="22572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000" y="24480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24552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000" y="24660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Armamento (total)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86000" y="24660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—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000" y="26568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26640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000" y="26748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Combustível (FP)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86000" y="26748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—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000" y="28656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2880000"/>
            <a:ext cx="2286000" cy="16200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000" y="28872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</a:rPr>
              <a:t>CAPACIDADES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3042000"/>
            <a:ext cx="2286000" cy="252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000" y="3052800"/>
            <a:ext cx="2178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>
                <a:solidFill>
                  <a:srgbClr val="333333"/>
                </a:solidFill>
              </a:rPr>
              <a:t>—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3294000"/>
            <a:ext cx="2286000" cy="16200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000" y="33012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</a:rPr>
              <a:t>ARMAMENTO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3456000"/>
            <a:ext cx="2286000" cy="2880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4000" y="3466800"/>
            <a:ext cx="2178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50" b="0">
                <a:solidFill>
                  <a:srgbClr val="333333"/>
                </a:solidFill>
              </a:rPr>
              <a:t>—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3744000"/>
            <a:ext cx="2286000" cy="-543600"/>
          </a:xfrm>
          <a:prstGeom prst="rect">
            <a:avLst/>
          </a:prstGeom>
          <a:solidFill>
            <a:srgbClr val="003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000" y="3762000"/>
            <a:ext cx="2178000" cy="-57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0">
                <a:solidFill>
                  <a:srgbClr val="FFFFFF"/>
                </a:solidFill>
              </a:rPr>
              <a:t>ℹ SP=20. Hub logístico sul.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0"/>
            <a:ext cx="2286000" cy="3200400"/>
          </a:xfrm>
          <a:prstGeom prst="rect">
            <a:avLst/>
          </a:prstGeom>
          <a:noFill/>
          <a:ln w="21600">
            <a:solidFill>
              <a:srgbClr val="0033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0" cy="3200400"/>
          </a:xfrm>
          <a:prstGeom prst="rect">
            <a:avLst/>
          </a:prstGeom>
          <a:solidFill>
            <a:srgbClr val="FFFFFF"/>
          </a:solidFill>
          <a:ln w="18000">
            <a:solidFill>
              <a:srgbClr val="0033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0" cy="396000"/>
          </a:xfrm>
          <a:prstGeom prst="rect">
            <a:avLst/>
          </a:prstGeom>
          <a:solidFill>
            <a:srgbClr val="003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" y="18000"/>
            <a:ext cx="16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" b="1">
                <a:solidFill>
                  <a:srgbClr val="FFFFFF"/>
                </a:solidFill>
              </a:rPr>
              <a:t>FORÇA AZUL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" y="198000"/>
            <a:ext cx="2214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FFCC00"/>
                </a:solidFill>
              </a:rPr>
              <a:t>⬛ Terra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396000"/>
            <a:ext cx="2286000" cy="28800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000" y="403200"/>
            <a:ext cx="2214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Pto.RJ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4000"/>
            <a:ext cx="2286000" cy="216000"/>
          </a:xfrm>
          <a:prstGeom prst="rect">
            <a:avLst/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000" y="691200"/>
            <a:ext cx="2214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003380"/>
                </a:solidFill>
              </a:rPr>
              <a:t>Porto do Rio de Janeiro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000" y="918000"/>
            <a:ext cx="2178000" cy="504000"/>
          </a:xfrm>
          <a:prstGeom prst="rect">
            <a:avLst/>
          </a:prstGeom>
          <a:solidFill>
            <a:srgbClr val="F0F0F0"/>
          </a:solidFill>
          <a:ln w="1080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000" y="936000"/>
            <a:ext cx="2178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005BB5"/>
                </a:solidFill>
              </a:rPr>
              <a:t>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000" y="1314000"/>
            <a:ext cx="217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50" b="0">
                <a:solidFill>
                  <a:srgbClr val="333333"/>
                </a:solidFill>
              </a:rPr>
              <a:t>1× Porto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1458000"/>
            <a:ext cx="2286000" cy="162000"/>
          </a:xfrm>
          <a:prstGeom prst="rect">
            <a:avLst/>
          </a:prstGeom>
          <a:solidFill>
            <a:srgbClr val="003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000" y="14688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FFFFFF"/>
                </a:solidFill>
              </a:rPr>
              <a:t>ATRIBUTOS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16200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000" y="16308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Staying Power (HP)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6000" y="16308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20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000" y="18216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18288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000" y="18396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Movimento (hexes/turno)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6000" y="18396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000" y="20304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20376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000" y="20484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Detecção (melhor)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6000" y="20484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000" y="22392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22464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000" y="22572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Alcance Ataque (melhor)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86000" y="22572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000" y="24480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24552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000" y="24660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Armamento (total)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86000" y="24660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—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000" y="26568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26640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000" y="26748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Combustível (FP)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86000" y="26748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—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000" y="28656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2880000"/>
            <a:ext cx="2286000" cy="16200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000" y="28872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</a:rPr>
              <a:t>CAPACIDADES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3042000"/>
            <a:ext cx="2286000" cy="252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000" y="3052800"/>
            <a:ext cx="2178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>
                <a:solidFill>
                  <a:srgbClr val="333333"/>
                </a:solidFill>
              </a:rPr>
              <a:t>—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3294000"/>
            <a:ext cx="2286000" cy="16200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000" y="33012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</a:rPr>
              <a:t>ARMAMENTO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3456000"/>
            <a:ext cx="2286000" cy="2880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4000" y="3466800"/>
            <a:ext cx="2178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50" b="0">
                <a:solidFill>
                  <a:srgbClr val="333333"/>
                </a:solidFill>
              </a:rPr>
              <a:t>—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3744000"/>
            <a:ext cx="2286000" cy="-543600"/>
          </a:xfrm>
          <a:prstGeom prst="rect">
            <a:avLst/>
          </a:prstGeom>
          <a:solidFill>
            <a:srgbClr val="003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000" y="3762000"/>
            <a:ext cx="2178000" cy="-57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0">
                <a:solidFill>
                  <a:srgbClr val="FFFFFF"/>
                </a:solidFill>
              </a:rPr>
              <a:t>ℹ SP=20. Hub naval central.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0"/>
            <a:ext cx="2286000" cy="3200400"/>
          </a:xfrm>
          <a:prstGeom prst="rect">
            <a:avLst/>
          </a:prstGeom>
          <a:noFill/>
          <a:ln w="21600">
            <a:solidFill>
              <a:srgbClr val="0033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0" cy="3200400"/>
          </a:xfrm>
          <a:prstGeom prst="rect">
            <a:avLst/>
          </a:prstGeom>
          <a:solidFill>
            <a:srgbClr val="FFFFFF"/>
          </a:solidFill>
          <a:ln w="18000">
            <a:solidFill>
              <a:srgbClr val="0033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0" cy="396000"/>
          </a:xfrm>
          <a:prstGeom prst="rect">
            <a:avLst/>
          </a:prstGeom>
          <a:solidFill>
            <a:srgbClr val="003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" y="18000"/>
            <a:ext cx="16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" b="1">
                <a:solidFill>
                  <a:srgbClr val="FFFFFF"/>
                </a:solidFill>
              </a:rPr>
              <a:t>FORÇA AZUL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" y="198000"/>
            <a:ext cx="2214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FFCC00"/>
                </a:solidFill>
              </a:rPr>
              <a:t>⬛ Terra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396000"/>
            <a:ext cx="2286000" cy="28800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000" y="403200"/>
            <a:ext cx="2214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Pto.Vitória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4000"/>
            <a:ext cx="2286000" cy="216000"/>
          </a:xfrm>
          <a:prstGeom prst="rect">
            <a:avLst/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000" y="691200"/>
            <a:ext cx="2214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003380"/>
                </a:solidFill>
              </a:rPr>
              <a:t>Porto de Vitória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000" y="918000"/>
            <a:ext cx="2178000" cy="504000"/>
          </a:xfrm>
          <a:prstGeom prst="rect">
            <a:avLst/>
          </a:prstGeom>
          <a:solidFill>
            <a:srgbClr val="F0F0F0"/>
          </a:solidFill>
          <a:ln w="1080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000" y="936000"/>
            <a:ext cx="2178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005BB5"/>
                </a:solidFill>
              </a:rPr>
              <a:t>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000" y="1314000"/>
            <a:ext cx="217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50" b="0">
                <a:solidFill>
                  <a:srgbClr val="333333"/>
                </a:solidFill>
              </a:rPr>
              <a:t>1× Porto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1458000"/>
            <a:ext cx="2286000" cy="162000"/>
          </a:xfrm>
          <a:prstGeom prst="rect">
            <a:avLst/>
          </a:prstGeom>
          <a:solidFill>
            <a:srgbClr val="003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000" y="14688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FFFFFF"/>
                </a:solidFill>
              </a:rPr>
              <a:t>ATRIBUTOS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16200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000" y="16308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Staying Power (HP)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6000" y="16308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16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000" y="18216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18288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000" y="18396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Movimento (hexes/turno)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6000" y="18396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000" y="20304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20376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000" y="20484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Detecção (melhor)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6000" y="20484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000" y="22392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22464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000" y="22572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Alcance Ataque (melhor)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86000" y="22572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000" y="24480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24552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000" y="24660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Armamento (total)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86000" y="24660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—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000" y="26568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26640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000" y="26748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Combustível (FP)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86000" y="26748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—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000" y="28656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2880000"/>
            <a:ext cx="2286000" cy="16200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000" y="28872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</a:rPr>
              <a:t>CAPACIDADES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3042000"/>
            <a:ext cx="2286000" cy="252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000" y="3052800"/>
            <a:ext cx="2178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>
                <a:solidFill>
                  <a:srgbClr val="333333"/>
                </a:solidFill>
              </a:rPr>
              <a:t>—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3294000"/>
            <a:ext cx="2286000" cy="16200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000" y="33012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</a:rPr>
              <a:t>ARMAMENTO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3456000"/>
            <a:ext cx="2286000" cy="2880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4000" y="3466800"/>
            <a:ext cx="2178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50" b="0">
                <a:solidFill>
                  <a:srgbClr val="333333"/>
                </a:solidFill>
              </a:rPr>
              <a:t>—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3744000"/>
            <a:ext cx="2286000" cy="-543600"/>
          </a:xfrm>
          <a:prstGeom prst="rect">
            <a:avLst/>
          </a:prstGeom>
          <a:solidFill>
            <a:srgbClr val="003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000" y="3762000"/>
            <a:ext cx="2178000" cy="-57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0">
                <a:solidFill>
                  <a:srgbClr val="FFFFFF"/>
                </a:solidFill>
              </a:rPr>
              <a:t>ℹ SP=16.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0"/>
            <a:ext cx="2286000" cy="3200400"/>
          </a:xfrm>
          <a:prstGeom prst="rect">
            <a:avLst/>
          </a:prstGeom>
          <a:noFill/>
          <a:ln w="21600">
            <a:solidFill>
              <a:srgbClr val="0033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0" cy="3200400"/>
          </a:xfrm>
          <a:prstGeom prst="rect">
            <a:avLst/>
          </a:prstGeom>
          <a:solidFill>
            <a:srgbClr val="FFFFFF"/>
          </a:solidFill>
          <a:ln w="18000">
            <a:solidFill>
              <a:srgbClr val="0033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0" cy="396000"/>
          </a:xfrm>
          <a:prstGeom prst="rect">
            <a:avLst/>
          </a:prstGeom>
          <a:solidFill>
            <a:srgbClr val="003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" y="18000"/>
            <a:ext cx="16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" b="1">
                <a:solidFill>
                  <a:srgbClr val="FFFFFF"/>
                </a:solidFill>
              </a:rPr>
              <a:t>FORÇA AZUL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" y="198000"/>
            <a:ext cx="2214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FFCC00"/>
                </a:solidFill>
              </a:rPr>
              <a:t>⬛ Terra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396000"/>
            <a:ext cx="2286000" cy="28800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000" y="403200"/>
            <a:ext cx="2214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Pto.Açu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4000"/>
            <a:ext cx="2286000" cy="216000"/>
          </a:xfrm>
          <a:prstGeom prst="rect">
            <a:avLst/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000" y="691200"/>
            <a:ext cx="2214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003380"/>
                </a:solidFill>
              </a:rPr>
              <a:t>Porto do Açu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000" y="918000"/>
            <a:ext cx="2178000" cy="504000"/>
          </a:xfrm>
          <a:prstGeom prst="rect">
            <a:avLst/>
          </a:prstGeom>
          <a:solidFill>
            <a:srgbClr val="F0F0F0"/>
          </a:solidFill>
          <a:ln w="1080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000" y="936000"/>
            <a:ext cx="2178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005BB5"/>
                </a:solidFill>
              </a:rPr>
              <a:t>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000" y="1314000"/>
            <a:ext cx="217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50" b="0">
                <a:solidFill>
                  <a:srgbClr val="333333"/>
                </a:solidFill>
              </a:rPr>
              <a:t>1× Porto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1458000"/>
            <a:ext cx="2286000" cy="162000"/>
          </a:xfrm>
          <a:prstGeom prst="rect">
            <a:avLst/>
          </a:prstGeom>
          <a:solidFill>
            <a:srgbClr val="003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000" y="14688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FFFFFF"/>
                </a:solidFill>
              </a:rPr>
              <a:t>ATRIBUTOS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16200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000" y="16308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Staying Power (HP)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6000" y="16308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12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000" y="18216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18288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000" y="18396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Movimento (hexes/turno)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6000" y="18396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000" y="20304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20376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000" y="20484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Detecção (melhor)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6000" y="20484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000" y="22392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22464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000" y="22572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Alcance Ataque (melhor)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86000" y="22572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000" y="24480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24552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000" y="24660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Armamento (total)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86000" y="24660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—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000" y="26568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26640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000" y="26748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Combustível (FP)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86000" y="26748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—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000" y="28656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2880000"/>
            <a:ext cx="2286000" cy="16200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000" y="28872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</a:rPr>
              <a:t>CAPACIDADES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3042000"/>
            <a:ext cx="2286000" cy="252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000" y="3052800"/>
            <a:ext cx="2178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>
                <a:solidFill>
                  <a:srgbClr val="333333"/>
                </a:solidFill>
              </a:rPr>
              <a:t>—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3294000"/>
            <a:ext cx="2286000" cy="16200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000" y="33012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</a:rPr>
              <a:t>ARMAMENTO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3456000"/>
            <a:ext cx="2286000" cy="2880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4000" y="3466800"/>
            <a:ext cx="2178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50" b="0">
                <a:solidFill>
                  <a:srgbClr val="333333"/>
                </a:solidFill>
              </a:rPr>
              <a:t>—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3744000"/>
            <a:ext cx="2286000" cy="-543600"/>
          </a:xfrm>
          <a:prstGeom prst="rect">
            <a:avLst/>
          </a:prstGeom>
          <a:solidFill>
            <a:srgbClr val="003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000" y="3762000"/>
            <a:ext cx="2178000" cy="-57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0">
                <a:solidFill>
                  <a:srgbClr val="FFFFFF"/>
                </a:solidFill>
              </a:rPr>
              <a:t>ℹ SP=12. Terminal offshore.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0"/>
            <a:ext cx="2286000" cy="3200400"/>
          </a:xfrm>
          <a:prstGeom prst="rect">
            <a:avLst/>
          </a:prstGeom>
          <a:noFill/>
          <a:ln w="21600">
            <a:solidFill>
              <a:srgbClr val="0033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0" cy="3200400"/>
          </a:xfrm>
          <a:prstGeom prst="rect">
            <a:avLst/>
          </a:prstGeom>
          <a:solidFill>
            <a:srgbClr val="FFFFFF"/>
          </a:solidFill>
          <a:ln w="18000">
            <a:solidFill>
              <a:srgbClr val="0033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0" cy="396000"/>
          </a:xfrm>
          <a:prstGeom prst="rect">
            <a:avLst/>
          </a:prstGeom>
          <a:solidFill>
            <a:srgbClr val="003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" y="18000"/>
            <a:ext cx="16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" b="1">
                <a:solidFill>
                  <a:srgbClr val="FFFFFF"/>
                </a:solidFill>
              </a:rPr>
              <a:t>FORÇA AZUL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" y="198000"/>
            <a:ext cx="2214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FFCC00"/>
                </a:solidFill>
              </a:rPr>
              <a:t>⬛ Terra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396000"/>
            <a:ext cx="2286000" cy="28800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000" y="403200"/>
            <a:ext cx="2214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BA Santa Cruz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4000"/>
            <a:ext cx="2286000" cy="216000"/>
          </a:xfrm>
          <a:prstGeom prst="rect">
            <a:avLst/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000" y="691200"/>
            <a:ext cx="2214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003380"/>
                </a:solidFill>
              </a:rPr>
              <a:t>BA Santa Cruz / Galeão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000" y="918000"/>
            <a:ext cx="2178000" cy="504000"/>
          </a:xfrm>
          <a:prstGeom prst="rect">
            <a:avLst/>
          </a:prstGeom>
          <a:solidFill>
            <a:srgbClr val="F0F0F0"/>
          </a:solidFill>
          <a:ln w="1080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000" y="936000"/>
            <a:ext cx="2178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005BB5"/>
                </a:solidFill>
              </a:rPr>
              <a:t>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000" y="1314000"/>
            <a:ext cx="217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50" b="0">
                <a:solidFill>
                  <a:srgbClr val="333333"/>
                </a:solidFill>
              </a:rPr>
              <a:t>1× Aeroporto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1458000"/>
            <a:ext cx="2286000" cy="162000"/>
          </a:xfrm>
          <a:prstGeom prst="rect">
            <a:avLst/>
          </a:prstGeom>
          <a:solidFill>
            <a:srgbClr val="003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000" y="14688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FFFFFF"/>
                </a:solidFill>
              </a:rPr>
              <a:t>ATRIBUTOS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16200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000" y="16308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Staying Power (HP)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6000" y="16308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10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000" y="18216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18288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000" y="18396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Movimento (hexes/turno)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6000" y="18396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000" y="20304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20376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000" y="20484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Detecção (melhor)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6000" y="20484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000" y="22392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22464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000" y="22572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Alcance Ataque (melhor)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86000" y="22572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000" y="24480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24552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000" y="24660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Armamento (total)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86000" y="24660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—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000" y="26568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26640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000" y="26748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Combustível (FP)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86000" y="26748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—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000" y="28656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2880000"/>
            <a:ext cx="2286000" cy="16200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000" y="28872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</a:rPr>
              <a:t>CAPACIDADES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3042000"/>
            <a:ext cx="2286000" cy="252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000" y="3052800"/>
            <a:ext cx="2178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>
                <a:solidFill>
                  <a:srgbClr val="333333"/>
                </a:solidFill>
              </a:rPr>
              <a:t>—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3294000"/>
            <a:ext cx="2286000" cy="16200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000" y="33012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</a:rPr>
              <a:t>ARMAMENTO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3456000"/>
            <a:ext cx="2286000" cy="2880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4000" y="3466800"/>
            <a:ext cx="2178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50" b="0">
                <a:solidFill>
                  <a:srgbClr val="333333"/>
                </a:solidFill>
              </a:rPr>
              <a:t>—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3744000"/>
            <a:ext cx="2286000" cy="-543600"/>
          </a:xfrm>
          <a:prstGeom prst="rect">
            <a:avLst/>
          </a:prstGeom>
          <a:solidFill>
            <a:srgbClr val="003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000" y="3762000"/>
            <a:ext cx="2178000" cy="-57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0">
                <a:solidFill>
                  <a:srgbClr val="FFFFFF"/>
                </a:solidFill>
              </a:rPr>
              <a:t>ℹ Recompletamento F-39 Gripen. Fixo.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0"/>
            <a:ext cx="2286000" cy="3200400"/>
          </a:xfrm>
          <a:prstGeom prst="rect">
            <a:avLst/>
          </a:prstGeom>
          <a:noFill/>
          <a:ln w="21600">
            <a:solidFill>
              <a:srgbClr val="0033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0" cy="3200400"/>
          </a:xfrm>
          <a:prstGeom prst="rect">
            <a:avLst/>
          </a:prstGeom>
          <a:solidFill>
            <a:srgbClr val="FFFFFF"/>
          </a:solidFill>
          <a:ln w="18000">
            <a:solidFill>
              <a:srgbClr val="0033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0" cy="396000"/>
          </a:xfrm>
          <a:prstGeom prst="rect">
            <a:avLst/>
          </a:prstGeom>
          <a:solidFill>
            <a:srgbClr val="003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" y="18000"/>
            <a:ext cx="16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" b="1">
                <a:solidFill>
                  <a:srgbClr val="FFFFFF"/>
                </a:solidFill>
              </a:rPr>
              <a:t>FORÇA AZUL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" y="198000"/>
            <a:ext cx="2214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FFCC00"/>
                </a:solidFill>
              </a:rPr>
              <a:t>⬛ Terra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396000"/>
            <a:ext cx="2286000" cy="28800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000" y="403200"/>
            <a:ext cx="2214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BA Santos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4000"/>
            <a:ext cx="2286000" cy="216000"/>
          </a:xfrm>
          <a:prstGeom prst="rect">
            <a:avLst/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000" y="691200"/>
            <a:ext cx="2214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003380"/>
                </a:solidFill>
              </a:rPr>
              <a:t>BA Santos / Campo de Marte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000" y="918000"/>
            <a:ext cx="2178000" cy="504000"/>
          </a:xfrm>
          <a:prstGeom prst="rect">
            <a:avLst/>
          </a:prstGeom>
          <a:solidFill>
            <a:srgbClr val="F0F0F0"/>
          </a:solidFill>
          <a:ln w="1080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000" y="936000"/>
            <a:ext cx="2178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005BB5"/>
                </a:solidFill>
              </a:rPr>
              <a:t>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000" y="1314000"/>
            <a:ext cx="217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50" b="0">
                <a:solidFill>
                  <a:srgbClr val="333333"/>
                </a:solidFill>
              </a:rPr>
              <a:t>1× Aeroporto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1458000"/>
            <a:ext cx="2286000" cy="162000"/>
          </a:xfrm>
          <a:prstGeom prst="rect">
            <a:avLst/>
          </a:prstGeom>
          <a:solidFill>
            <a:srgbClr val="003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000" y="14688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FFFFFF"/>
                </a:solidFill>
              </a:rPr>
              <a:t>ATRIBUTOS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16200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000" y="16308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Staying Power (HP)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6000" y="16308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10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000" y="18216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18288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000" y="18396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Movimento (hexes/turno)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6000" y="18396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000" y="20304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20376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000" y="20484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Detecção (melhor)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6000" y="20484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000" y="22392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22464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000" y="22572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Alcance Ataque (melhor)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86000" y="22572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000" y="24480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24552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000" y="24660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Armamento (total)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86000" y="24660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—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000" y="26568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26640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000" y="26748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Combustível (FP)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86000" y="26748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—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000" y="28656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2880000"/>
            <a:ext cx="2286000" cy="16200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000" y="28872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</a:rPr>
              <a:t>CAPACIDADES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3042000"/>
            <a:ext cx="2286000" cy="252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000" y="3052800"/>
            <a:ext cx="2178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>
                <a:solidFill>
                  <a:srgbClr val="333333"/>
                </a:solidFill>
              </a:rPr>
              <a:t>—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3294000"/>
            <a:ext cx="2286000" cy="16200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000" y="33012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</a:rPr>
              <a:t>ARMAMENTO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3456000"/>
            <a:ext cx="2286000" cy="2880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4000" y="3466800"/>
            <a:ext cx="2178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50" b="0">
                <a:solidFill>
                  <a:srgbClr val="333333"/>
                </a:solidFill>
              </a:rPr>
              <a:t>—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3744000"/>
            <a:ext cx="2286000" cy="-543600"/>
          </a:xfrm>
          <a:prstGeom prst="rect">
            <a:avLst/>
          </a:prstGeom>
          <a:solidFill>
            <a:srgbClr val="003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000" y="3762000"/>
            <a:ext cx="2178000" cy="-57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0">
                <a:solidFill>
                  <a:srgbClr val="FFFFFF"/>
                </a:solidFill>
              </a:rPr>
              <a:t>ℹ Recompletamento P-3AM. Fixo.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0"/>
            <a:ext cx="2286000" cy="3200400"/>
          </a:xfrm>
          <a:prstGeom prst="rect">
            <a:avLst/>
          </a:prstGeom>
          <a:noFill/>
          <a:ln w="21600">
            <a:solidFill>
              <a:srgbClr val="0033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0" cy="3200400"/>
          </a:xfrm>
          <a:prstGeom prst="rect">
            <a:avLst/>
          </a:prstGeom>
          <a:solidFill>
            <a:srgbClr val="FFFFFF"/>
          </a:solidFill>
          <a:ln w="18000">
            <a:solidFill>
              <a:srgbClr val="0033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0" cy="396000"/>
          </a:xfrm>
          <a:prstGeom prst="rect">
            <a:avLst/>
          </a:prstGeom>
          <a:solidFill>
            <a:srgbClr val="003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" y="18000"/>
            <a:ext cx="16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" b="1">
                <a:solidFill>
                  <a:srgbClr val="FFFFFF"/>
                </a:solidFill>
              </a:rPr>
              <a:t>FORÇA AZUL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" y="198000"/>
            <a:ext cx="2214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FFCC00"/>
                </a:solidFill>
              </a:rPr>
              <a:t>⬛ Terra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396000"/>
            <a:ext cx="2286000" cy="28800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000" y="403200"/>
            <a:ext cx="2214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AeroCF/BANS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4000"/>
            <a:ext cx="2286000" cy="216000"/>
          </a:xfrm>
          <a:prstGeom prst="rect">
            <a:avLst/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000" y="691200"/>
            <a:ext cx="2214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003380"/>
                </a:solidFill>
              </a:rPr>
              <a:t>Aeroporto Cabo Frio / BAN S.Pedro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000" y="918000"/>
            <a:ext cx="2178000" cy="504000"/>
          </a:xfrm>
          <a:prstGeom prst="rect">
            <a:avLst/>
          </a:prstGeom>
          <a:solidFill>
            <a:srgbClr val="F0F0F0"/>
          </a:solidFill>
          <a:ln w="1080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000" y="936000"/>
            <a:ext cx="2178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005BB5"/>
                </a:solidFill>
              </a:rPr>
              <a:t>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000" y="1314000"/>
            <a:ext cx="217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50" b="0">
                <a:solidFill>
                  <a:srgbClr val="333333"/>
                </a:solidFill>
              </a:rPr>
              <a:t>1× Aeroporto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1458000"/>
            <a:ext cx="2286000" cy="162000"/>
          </a:xfrm>
          <a:prstGeom prst="rect">
            <a:avLst/>
          </a:prstGeom>
          <a:solidFill>
            <a:srgbClr val="003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000" y="14688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FFFFFF"/>
                </a:solidFill>
              </a:rPr>
              <a:t>ATRIBUTOS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16200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000" y="16308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Staying Power (HP)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6000" y="16308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10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000" y="18216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18288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000" y="18396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Movimento (hexes/turno)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6000" y="18396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000" y="20304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20376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000" y="20484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Detecção (melhor)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6000" y="20484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000" y="22392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22464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000" y="22572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Alcance Ataque (melhor)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86000" y="22572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000" y="24480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24552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000" y="24660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Armamento (total)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86000" y="24660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—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000" y="26568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26640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000" y="26748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Combustível (FP)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86000" y="26748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003380"/>
                </a:solidFill>
              </a:rPr>
              <a:t>—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000" y="28656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2880000"/>
            <a:ext cx="2286000" cy="16200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000" y="28872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</a:rPr>
              <a:t>CAPACIDADES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3042000"/>
            <a:ext cx="2286000" cy="252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000" y="3052800"/>
            <a:ext cx="2178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>
                <a:solidFill>
                  <a:srgbClr val="333333"/>
                </a:solidFill>
              </a:rPr>
              <a:t>—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3294000"/>
            <a:ext cx="2286000" cy="16200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000" y="33012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</a:rPr>
              <a:t>ARMAMENTO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3456000"/>
            <a:ext cx="2286000" cy="2880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4000" y="3466800"/>
            <a:ext cx="2178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50" b="0">
                <a:solidFill>
                  <a:srgbClr val="333333"/>
                </a:solidFill>
              </a:rPr>
              <a:t>—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3744000"/>
            <a:ext cx="2286000" cy="-543600"/>
          </a:xfrm>
          <a:prstGeom prst="rect">
            <a:avLst/>
          </a:prstGeom>
          <a:solidFill>
            <a:srgbClr val="003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000" y="3762000"/>
            <a:ext cx="2178000" cy="-57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0">
                <a:solidFill>
                  <a:srgbClr val="FFFFFF"/>
                </a:solidFill>
              </a:rPr>
              <a:t>ℹ Alternativa de recompletamento. Fixo.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0"/>
            <a:ext cx="2286000" cy="3200400"/>
          </a:xfrm>
          <a:prstGeom prst="rect">
            <a:avLst/>
          </a:prstGeom>
          <a:noFill/>
          <a:ln w="21600">
            <a:solidFill>
              <a:srgbClr val="0033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0" cy="3200400"/>
          </a:xfrm>
          <a:prstGeom prst="rect">
            <a:avLst/>
          </a:prstGeom>
          <a:solidFill>
            <a:srgbClr val="FFFFFF"/>
          </a:solidFill>
          <a:ln w="18000">
            <a:solidFill>
              <a:srgbClr val="7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0" cy="396000"/>
          </a:xfrm>
          <a:prstGeom prst="rect">
            <a:avLst/>
          </a:prstGeom>
          <a:solidFill>
            <a:srgbClr val="7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" y="18000"/>
            <a:ext cx="16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" b="1">
                <a:solidFill>
                  <a:srgbClr val="FFFFFF"/>
                </a:solidFill>
              </a:rPr>
              <a:t>FORÇA VERMELHA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" y="198000"/>
            <a:ext cx="2214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FFCC00"/>
                </a:solidFill>
              </a:rPr>
              <a:t>⚓ Superfície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396000"/>
            <a:ext cx="2286000" cy="288000"/>
          </a:xfrm>
          <a:prstGeom prst="rect">
            <a:avLst/>
          </a:prstGeom>
          <a:solidFill>
            <a:srgbClr val="B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000" y="403200"/>
            <a:ext cx="2214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CSG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4000"/>
            <a:ext cx="2286000" cy="216000"/>
          </a:xfrm>
          <a:prstGeom prst="rect">
            <a:avLst/>
          </a:prstGeom>
          <a:solidFill>
            <a:srgbClr val="FFD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000" y="691200"/>
            <a:ext cx="2214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7F0000"/>
                </a:solidFill>
              </a:rPr>
              <a:t>Grupo de Batalha (CSG)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000" y="918000"/>
            <a:ext cx="2178000" cy="504000"/>
          </a:xfrm>
          <a:prstGeom prst="rect">
            <a:avLst/>
          </a:prstGeom>
          <a:solidFill>
            <a:srgbClr val="F0F0F0"/>
          </a:solidFill>
          <a:ln w="1080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000" y="936000"/>
            <a:ext cx="2178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BB0000"/>
                </a:solidFill>
              </a:rPr>
              <a:t>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000" y="1314000"/>
            <a:ext cx="217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50" b="0">
                <a:solidFill>
                  <a:srgbClr val="333333"/>
                </a:solidFill>
              </a:rPr>
              <a:t>1× Porta-Aviões  |  6× Helo ASup  |  6× Helo ASW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1458000"/>
            <a:ext cx="2286000" cy="162000"/>
          </a:xfrm>
          <a:prstGeom prst="rect">
            <a:avLst/>
          </a:prstGeom>
          <a:solidFill>
            <a:srgbClr val="7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000" y="14688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FFFFFF"/>
                </a:solidFill>
              </a:rPr>
              <a:t>ATRIBUTOS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16200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000" y="16308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Staying Power (HP)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6000" y="16308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7F0000"/>
                </a:solidFill>
              </a:rPr>
              <a:t>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000" y="18216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18288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000" y="18396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Movimento (hexes/turno)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6000" y="18396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7F0000"/>
                </a:solidFill>
              </a:rPr>
              <a:t>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000" y="20304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20376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000" y="20484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Detecção (melhor)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6000" y="20484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7F0000"/>
                </a:solidFill>
              </a:rPr>
              <a:t>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000" y="22392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22464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000" y="22572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Alcance Ataque (melhor)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86000" y="22572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7F0000"/>
                </a:solidFill>
              </a:rPr>
              <a:t>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000" y="24480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24552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000" y="24660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Armamento (total)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86000" y="24660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7F0000"/>
                </a:solidFill>
              </a:rPr>
              <a:t>10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000" y="26568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26640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000" y="26748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Combustível (FP)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86000" y="26748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7F0000"/>
                </a:solidFill>
              </a:rPr>
              <a:t>∞ (Nuclear)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000" y="28656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2880000"/>
            <a:ext cx="2286000" cy="162000"/>
          </a:xfrm>
          <a:prstGeom prst="rect">
            <a:avLst/>
          </a:prstGeom>
          <a:solidFill>
            <a:srgbClr val="B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000" y="28872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</a:rPr>
              <a:t>CAPACIDADES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3042000"/>
            <a:ext cx="2286000" cy="252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000" y="3052800"/>
            <a:ext cx="2178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>
                <a:solidFill>
                  <a:srgbClr val="333333"/>
                </a:solidFill>
              </a:rPr>
              <a:t>Def. Aérea: 3  |  ASW: 6  |  Ataque Aéreo: 8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3294000"/>
            <a:ext cx="2286000" cy="162000"/>
          </a:xfrm>
          <a:prstGeom prst="rect">
            <a:avLst/>
          </a:prstGeom>
          <a:solidFill>
            <a:srgbClr val="B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000" y="33012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</a:rPr>
              <a:t>ARMAMENTO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3456000"/>
            <a:ext cx="2286000" cy="2880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4000" y="3466800"/>
            <a:ext cx="2178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50" b="0">
                <a:solidFill>
                  <a:srgbClr val="333333"/>
                </a:solidFill>
              </a:rPr>
              <a:t>MSS ×10 (R:3)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3744000"/>
            <a:ext cx="2286000" cy="-543600"/>
          </a:xfrm>
          <a:prstGeom prst="rect">
            <a:avLst/>
          </a:prstGeom>
          <a:solidFill>
            <a:srgbClr val="7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000" y="3762000"/>
            <a:ext cx="2178000" cy="-57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0">
                <a:solidFill>
                  <a:srgbClr val="FFFFFF"/>
                </a:solidFill>
              </a:rPr>
              <a:t>ℹ KCV Aurelius Magnus. Nuclear. Imune ao FP.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0"/>
            <a:ext cx="2286000" cy="3200400"/>
          </a:xfrm>
          <a:prstGeom prst="rect">
            <a:avLst/>
          </a:prstGeom>
          <a:noFill/>
          <a:ln w="21600">
            <a:solidFill>
              <a:srgbClr val="7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0" cy="3200400"/>
          </a:xfrm>
          <a:prstGeom prst="rect">
            <a:avLst/>
          </a:prstGeom>
          <a:solidFill>
            <a:srgbClr val="FFFFFF"/>
          </a:solidFill>
          <a:ln w="18000">
            <a:solidFill>
              <a:srgbClr val="7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0" cy="396000"/>
          </a:xfrm>
          <a:prstGeom prst="rect">
            <a:avLst/>
          </a:prstGeom>
          <a:solidFill>
            <a:srgbClr val="7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" y="18000"/>
            <a:ext cx="16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" b="1">
                <a:solidFill>
                  <a:srgbClr val="FFFFFF"/>
                </a:solidFill>
              </a:rPr>
              <a:t>FORÇA VERMELHA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" y="198000"/>
            <a:ext cx="2214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FFCC00"/>
                </a:solidFill>
              </a:rPr>
              <a:t>⚓ Superfície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396000"/>
            <a:ext cx="2286000" cy="288000"/>
          </a:xfrm>
          <a:prstGeom prst="rect">
            <a:avLst/>
          </a:prstGeom>
          <a:solidFill>
            <a:srgbClr val="B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000" y="403200"/>
            <a:ext cx="2214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ESCCSG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4000"/>
            <a:ext cx="2286000" cy="216000"/>
          </a:xfrm>
          <a:prstGeom prst="rect">
            <a:avLst/>
          </a:prstGeom>
          <a:solidFill>
            <a:srgbClr val="FFD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000" y="691200"/>
            <a:ext cx="2214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7F0000"/>
                </a:solidFill>
              </a:rPr>
              <a:t>Escolta CSG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000" y="918000"/>
            <a:ext cx="2178000" cy="504000"/>
          </a:xfrm>
          <a:prstGeom prst="rect">
            <a:avLst/>
          </a:prstGeom>
          <a:solidFill>
            <a:srgbClr val="F0F0F0"/>
          </a:solidFill>
          <a:ln w="1080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000" y="936000"/>
            <a:ext cx="2178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BB0000"/>
                </a:solidFill>
              </a:rPr>
              <a:t>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000" y="1314000"/>
            <a:ext cx="217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50" b="0">
                <a:solidFill>
                  <a:srgbClr val="333333"/>
                </a:solidFill>
              </a:rPr>
              <a:t>1× Cruzador  |  2× Destroyer  |  6× Helo ASW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1458000"/>
            <a:ext cx="2286000" cy="162000"/>
          </a:xfrm>
          <a:prstGeom prst="rect">
            <a:avLst/>
          </a:prstGeom>
          <a:solidFill>
            <a:srgbClr val="7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000" y="14688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FFFFFF"/>
                </a:solidFill>
              </a:rPr>
              <a:t>ATRIBUTOS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16200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000" y="16308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Staying Power (HP)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6000" y="16308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7F0000"/>
                </a:solidFill>
              </a:rPr>
              <a:t>12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000" y="18216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18288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000" y="18396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Movimento (hexes/turno)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6000" y="18396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7F0000"/>
                </a:solidFill>
              </a:rPr>
              <a:t>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000" y="20304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20376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000" y="20484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Detecção (melhor)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6000" y="20484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7F0000"/>
                </a:solidFill>
              </a:rPr>
              <a:t>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000" y="22392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22464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000" y="22572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Alcance Ataque (melhor)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86000" y="22572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7F0000"/>
                </a:solidFill>
              </a:rPr>
              <a:t>8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000" y="24480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24552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000" y="24660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Armamento (total)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86000" y="24660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7F0000"/>
                </a:solidFill>
              </a:rPr>
              <a:t>40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000" y="26568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26640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000" y="26748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Combustível (FP)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86000" y="26748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7F0000"/>
                </a:solidFill>
              </a:rPr>
              <a:t>12 FP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000" y="28656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2880000"/>
            <a:ext cx="2286000" cy="162000"/>
          </a:xfrm>
          <a:prstGeom prst="rect">
            <a:avLst/>
          </a:prstGeom>
          <a:solidFill>
            <a:srgbClr val="B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000" y="28872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</a:rPr>
              <a:t>CAPACIDADES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3042000"/>
            <a:ext cx="2286000" cy="252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000" y="3052800"/>
            <a:ext cx="2178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>
                <a:solidFill>
                  <a:srgbClr val="333333"/>
                </a:solidFill>
              </a:rPr>
              <a:t>Artilharia: 6  |  Def. Aérea: 13  |  BMD: 4  |  ASW: 11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3294000"/>
            <a:ext cx="2286000" cy="162000"/>
          </a:xfrm>
          <a:prstGeom prst="rect">
            <a:avLst/>
          </a:prstGeom>
          <a:solidFill>
            <a:srgbClr val="B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000" y="33012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</a:rPr>
              <a:t>ARMAMENTO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3456000"/>
            <a:ext cx="2286000" cy="2880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4000" y="3466800"/>
            <a:ext cx="2178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50" b="0">
                <a:solidFill>
                  <a:srgbClr val="333333"/>
                </a:solidFill>
              </a:rPr>
              <a:t>ASCM ×14 (R:6)  |  MSS ×18 (R:3)  |  LACM ×8 (R:10)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3744000"/>
            <a:ext cx="2286000" cy="-543600"/>
          </a:xfrm>
          <a:prstGeom prst="rect">
            <a:avLst/>
          </a:prstGeom>
          <a:solidFill>
            <a:srgbClr val="7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000" y="3762000"/>
            <a:ext cx="2178000" cy="-57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0">
                <a:solidFill>
                  <a:srgbClr val="FFFFFF"/>
                </a:solidFill>
              </a:rPr>
              <a:t>ℹ 1× CG Drakhmar + 2× DDG Volnaria. SAM/BMD/ASCM.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0"/>
            <a:ext cx="2286000" cy="3200400"/>
          </a:xfrm>
          <a:prstGeom prst="rect">
            <a:avLst/>
          </a:prstGeom>
          <a:noFill/>
          <a:ln w="21600">
            <a:solidFill>
              <a:srgbClr val="7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0" cy="3200400"/>
          </a:xfrm>
          <a:prstGeom prst="rect">
            <a:avLst/>
          </a:prstGeom>
          <a:solidFill>
            <a:srgbClr val="FFFFFF"/>
          </a:solidFill>
          <a:ln w="18000">
            <a:solidFill>
              <a:srgbClr val="7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0" cy="396000"/>
          </a:xfrm>
          <a:prstGeom prst="rect">
            <a:avLst/>
          </a:prstGeom>
          <a:solidFill>
            <a:srgbClr val="7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" y="18000"/>
            <a:ext cx="16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" b="1">
                <a:solidFill>
                  <a:srgbClr val="FFFFFF"/>
                </a:solidFill>
              </a:rPr>
              <a:t>FORÇA VERMELHA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" y="198000"/>
            <a:ext cx="2214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FFCC00"/>
                </a:solidFill>
              </a:rPr>
              <a:t>⚓ Superfície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396000"/>
            <a:ext cx="2286000" cy="288000"/>
          </a:xfrm>
          <a:prstGeom prst="rect">
            <a:avLst/>
          </a:prstGeom>
          <a:solidFill>
            <a:srgbClr val="B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000" y="403200"/>
            <a:ext cx="2214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SAG1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4000"/>
            <a:ext cx="2286000" cy="216000"/>
          </a:xfrm>
          <a:prstGeom prst="rect">
            <a:avLst/>
          </a:prstGeom>
          <a:solidFill>
            <a:srgbClr val="FFD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000" y="691200"/>
            <a:ext cx="2214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7F0000"/>
                </a:solidFill>
              </a:rPr>
              <a:t>SAG Vermelho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000" y="918000"/>
            <a:ext cx="2178000" cy="504000"/>
          </a:xfrm>
          <a:prstGeom prst="rect">
            <a:avLst/>
          </a:prstGeom>
          <a:solidFill>
            <a:srgbClr val="F0F0F0"/>
          </a:solidFill>
          <a:ln w="1080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000" y="936000"/>
            <a:ext cx="2178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BB0000"/>
                </a:solidFill>
              </a:rPr>
              <a:t>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000" y="1314000"/>
            <a:ext cx="217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50" b="0">
                <a:solidFill>
                  <a:srgbClr val="333333"/>
                </a:solidFill>
              </a:rPr>
              <a:t>1× Destroyer  |  2× Fragata  |  4× Helo ASW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1458000"/>
            <a:ext cx="2286000" cy="162000"/>
          </a:xfrm>
          <a:prstGeom prst="rect">
            <a:avLst/>
          </a:prstGeom>
          <a:solidFill>
            <a:srgbClr val="7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000" y="14688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FFFFFF"/>
                </a:solidFill>
              </a:rPr>
              <a:t>ATRIBUTOS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16200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000" y="16308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Staying Power (HP)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6000" y="16308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7F0000"/>
                </a:solidFill>
              </a:rPr>
              <a:t>10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000" y="18216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18288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000" y="18396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Movimento (hexes/turno)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6000" y="18396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7F0000"/>
                </a:solidFill>
              </a:rPr>
              <a:t>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000" y="20304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20376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000" y="20484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Detecção (melhor)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6000" y="20484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7F0000"/>
                </a:solidFill>
              </a:rPr>
              <a:t>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000" y="22392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22464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000" y="22572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Alcance Ataque (melhor)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86000" y="22572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7F0000"/>
                </a:solidFill>
              </a:rPr>
              <a:t>8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000" y="24480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24552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000" y="24660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Armamento (total)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86000" y="24660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7F0000"/>
                </a:solidFill>
              </a:rPr>
              <a:t>22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000" y="26568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26640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000" y="26748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Combustível (FP)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86000" y="26748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7F0000"/>
                </a:solidFill>
              </a:rPr>
              <a:t>12 FP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000" y="28656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2880000"/>
            <a:ext cx="2286000" cy="162000"/>
          </a:xfrm>
          <a:prstGeom prst="rect">
            <a:avLst/>
          </a:prstGeom>
          <a:solidFill>
            <a:srgbClr val="B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000" y="28872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</a:rPr>
              <a:t>CAPACIDADES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3042000"/>
            <a:ext cx="2286000" cy="252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000" y="3052800"/>
            <a:ext cx="2178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>
                <a:solidFill>
                  <a:srgbClr val="333333"/>
                </a:solidFill>
              </a:rPr>
              <a:t>Artilharia: 4  |  Def. Aérea: 8  |  BMD: 1  |  ASW: 8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3294000"/>
            <a:ext cx="2286000" cy="162000"/>
          </a:xfrm>
          <a:prstGeom prst="rect">
            <a:avLst/>
          </a:prstGeom>
          <a:solidFill>
            <a:srgbClr val="B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000" y="33012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</a:rPr>
              <a:t>ARMAMENTO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3456000"/>
            <a:ext cx="2286000" cy="2880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4000" y="3466800"/>
            <a:ext cx="2178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50" b="0">
                <a:solidFill>
                  <a:srgbClr val="333333"/>
                </a:solidFill>
              </a:rPr>
              <a:t>ASCM ×8 (R:6)  |  MSS ×12 (R:3)  |  LACM ×2 (R:10)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3744000"/>
            <a:ext cx="2286000" cy="-543600"/>
          </a:xfrm>
          <a:prstGeom prst="rect">
            <a:avLst/>
          </a:prstGeom>
          <a:solidFill>
            <a:srgbClr val="7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000" y="3762000"/>
            <a:ext cx="2178000" cy="-57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0">
                <a:solidFill>
                  <a:srgbClr val="FFFFFF"/>
                </a:solidFill>
              </a:rPr>
              <a:t>ℹ 1× DDG + 2× FFG + Helos ASW.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0"/>
            <a:ext cx="2286000" cy="3200400"/>
          </a:xfrm>
          <a:prstGeom prst="rect">
            <a:avLst/>
          </a:prstGeom>
          <a:noFill/>
          <a:ln w="21600">
            <a:solidFill>
              <a:srgbClr val="7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0" cy="3200400"/>
          </a:xfrm>
          <a:prstGeom prst="rect">
            <a:avLst/>
          </a:prstGeom>
          <a:solidFill>
            <a:srgbClr val="FFFFFF"/>
          </a:solidFill>
          <a:ln w="18000">
            <a:solidFill>
              <a:srgbClr val="7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0" cy="396000"/>
          </a:xfrm>
          <a:prstGeom prst="rect">
            <a:avLst/>
          </a:prstGeom>
          <a:solidFill>
            <a:srgbClr val="7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" y="18000"/>
            <a:ext cx="16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" b="1">
                <a:solidFill>
                  <a:srgbClr val="FFFFFF"/>
                </a:solidFill>
              </a:rPr>
              <a:t>FORÇA VERMELHA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" y="198000"/>
            <a:ext cx="2214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FFCC00"/>
                </a:solidFill>
              </a:rPr>
              <a:t>⚓ Superfície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396000"/>
            <a:ext cx="2286000" cy="288000"/>
          </a:xfrm>
          <a:prstGeom prst="rect">
            <a:avLst/>
          </a:prstGeom>
          <a:solidFill>
            <a:srgbClr val="B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000" y="403200"/>
            <a:ext cx="2214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SAG2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4000"/>
            <a:ext cx="2286000" cy="216000"/>
          </a:xfrm>
          <a:prstGeom prst="rect">
            <a:avLst/>
          </a:prstGeom>
          <a:solidFill>
            <a:srgbClr val="FFD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000" y="691200"/>
            <a:ext cx="2214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7F0000"/>
                </a:solidFill>
              </a:rPr>
              <a:t>SAG Vermelho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000" y="918000"/>
            <a:ext cx="2178000" cy="504000"/>
          </a:xfrm>
          <a:prstGeom prst="rect">
            <a:avLst/>
          </a:prstGeom>
          <a:solidFill>
            <a:srgbClr val="F0F0F0"/>
          </a:solidFill>
          <a:ln w="1080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000" y="936000"/>
            <a:ext cx="2178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BB0000"/>
                </a:solidFill>
              </a:rPr>
              <a:t>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000" y="1314000"/>
            <a:ext cx="217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50" b="0">
                <a:solidFill>
                  <a:srgbClr val="333333"/>
                </a:solidFill>
              </a:rPr>
              <a:t>3× Fragata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1458000"/>
            <a:ext cx="2286000" cy="162000"/>
          </a:xfrm>
          <a:prstGeom prst="rect">
            <a:avLst/>
          </a:prstGeom>
          <a:solidFill>
            <a:srgbClr val="7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000" y="14688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FFFFFF"/>
                </a:solidFill>
              </a:rPr>
              <a:t>ATRIBUTOS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16200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000" y="16308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Staying Power (HP)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6000" y="16308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7F0000"/>
                </a:solidFill>
              </a:rPr>
              <a:t>9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000" y="18216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18288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000" y="18396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Movimento (hexes/turno)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6000" y="18396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7F0000"/>
                </a:solidFill>
              </a:rPr>
              <a:t>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000" y="20304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20376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000" y="20484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Detecção (melhor)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6000" y="20484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7F0000"/>
                </a:solidFill>
              </a:rPr>
              <a:t>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000" y="22392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22464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000" y="22572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Alcance Ataque (melhor)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86000" y="22572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7F0000"/>
                </a:solidFill>
              </a:rPr>
              <a:t>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000" y="24480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24552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000" y="24660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Armamento (total)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86000" y="24660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7F0000"/>
                </a:solidFill>
              </a:rPr>
              <a:t>12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000" y="26568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26640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000" y="26748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Combustível (FP)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86000" y="26748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7F0000"/>
                </a:solidFill>
              </a:rPr>
              <a:t>10 FP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000" y="28656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2880000"/>
            <a:ext cx="2286000" cy="162000"/>
          </a:xfrm>
          <a:prstGeom prst="rect">
            <a:avLst/>
          </a:prstGeom>
          <a:solidFill>
            <a:srgbClr val="B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000" y="28872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</a:rPr>
              <a:t>CAPACIDADES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3042000"/>
            <a:ext cx="2286000" cy="252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000" y="3052800"/>
            <a:ext cx="2178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>
                <a:solidFill>
                  <a:srgbClr val="333333"/>
                </a:solidFill>
              </a:rPr>
              <a:t>Artilharia: 3  |  Def. Aérea: 6  |  ASW: 3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3294000"/>
            <a:ext cx="2286000" cy="162000"/>
          </a:xfrm>
          <a:prstGeom prst="rect">
            <a:avLst/>
          </a:prstGeom>
          <a:solidFill>
            <a:srgbClr val="B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000" y="33012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</a:rPr>
              <a:t>ARMAMENTO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3456000"/>
            <a:ext cx="2286000" cy="2880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4000" y="3466800"/>
            <a:ext cx="2178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50" b="0">
                <a:solidFill>
                  <a:srgbClr val="333333"/>
                </a:solidFill>
              </a:rPr>
              <a:t>MSS ×12 (R:3)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3744000"/>
            <a:ext cx="2286000" cy="-543600"/>
          </a:xfrm>
          <a:prstGeom prst="rect">
            <a:avLst/>
          </a:prstGeom>
          <a:solidFill>
            <a:srgbClr val="7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000" y="3762000"/>
            <a:ext cx="2178000" cy="-57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0">
                <a:solidFill>
                  <a:srgbClr val="FFFFFF"/>
                </a:solidFill>
              </a:rPr>
              <a:t>ℹ 3× Fragatas Cl. Volnaria.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0"/>
            <a:ext cx="2286000" cy="3200400"/>
          </a:xfrm>
          <a:prstGeom prst="rect">
            <a:avLst/>
          </a:prstGeom>
          <a:noFill/>
          <a:ln w="21600">
            <a:solidFill>
              <a:srgbClr val="7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0" cy="3200400"/>
          </a:xfrm>
          <a:prstGeom prst="rect">
            <a:avLst/>
          </a:prstGeom>
          <a:solidFill>
            <a:srgbClr val="FFFFFF"/>
          </a:solidFill>
          <a:ln w="18000">
            <a:solidFill>
              <a:srgbClr val="7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0" cy="396000"/>
          </a:xfrm>
          <a:prstGeom prst="rect">
            <a:avLst/>
          </a:prstGeom>
          <a:solidFill>
            <a:srgbClr val="7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" y="18000"/>
            <a:ext cx="16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" b="1">
                <a:solidFill>
                  <a:srgbClr val="FFFFFF"/>
                </a:solidFill>
              </a:rPr>
              <a:t>FORÇA VERMELHA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" y="198000"/>
            <a:ext cx="2214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FFCC00"/>
                </a:solidFill>
              </a:rPr>
              <a:t>⚓ Superfície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396000"/>
            <a:ext cx="2286000" cy="288000"/>
          </a:xfrm>
          <a:prstGeom prst="rect">
            <a:avLst/>
          </a:prstGeom>
          <a:solidFill>
            <a:srgbClr val="B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000" y="403200"/>
            <a:ext cx="2214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REAB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4000"/>
            <a:ext cx="2286000" cy="216000"/>
          </a:xfrm>
          <a:prstGeom prst="rect">
            <a:avLst/>
          </a:prstGeom>
          <a:solidFill>
            <a:srgbClr val="FFD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000" y="691200"/>
            <a:ext cx="2214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7F0000"/>
                </a:solidFill>
              </a:rPr>
              <a:t>Reabastecedor CSG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000" y="918000"/>
            <a:ext cx="2178000" cy="504000"/>
          </a:xfrm>
          <a:prstGeom prst="rect">
            <a:avLst/>
          </a:prstGeom>
          <a:solidFill>
            <a:srgbClr val="F0F0F0"/>
          </a:solidFill>
          <a:ln w="1080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000" y="936000"/>
            <a:ext cx="2178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BB0000"/>
                </a:solidFill>
              </a:rPr>
              <a:t>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000" y="1314000"/>
            <a:ext cx="217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50" b="0">
                <a:solidFill>
                  <a:srgbClr val="333333"/>
                </a:solidFill>
              </a:rPr>
              <a:t>1× Navio Tanque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1458000"/>
            <a:ext cx="2286000" cy="162000"/>
          </a:xfrm>
          <a:prstGeom prst="rect">
            <a:avLst/>
          </a:prstGeom>
          <a:solidFill>
            <a:srgbClr val="7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000" y="14688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FFFFFF"/>
                </a:solidFill>
              </a:rPr>
              <a:t>ATRIBUTOS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16200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000" y="16308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Staying Power (HP)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6000" y="16308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7F0000"/>
                </a:solidFill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000" y="18216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18288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000" y="18396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Movimento (hexes/turno)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6000" y="18396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7F0000"/>
                </a:solidFill>
              </a:rPr>
              <a:t>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000" y="20304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20376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000" y="20484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Detecção (melhor)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6000" y="20484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7F0000"/>
                </a:solidFill>
              </a:rPr>
              <a:t>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000" y="22392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22464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000" y="22572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Alcance Ataque (melhor)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86000" y="22572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7F0000"/>
                </a:solidFill>
              </a:rPr>
              <a:t>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000" y="24480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24552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000" y="24660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Armamento (total)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86000" y="24660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7F0000"/>
                </a:solidFill>
              </a:rPr>
              <a:t>—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000" y="26568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26640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000" y="26748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Combustível (FP)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86000" y="26748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7F0000"/>
                </a:solidFill>
              </a:rPr>
              <a:t>24 FP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000" y="28656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2880000"/>
            <a:ext cx="2286000" cy="162000"/>
          </a:xfrm>
          <a:prstGeom prst="rect">
            <a:avLst/>
          </a:prstGeom>
          <a:solidFill>
            <a:srgbClr val="B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000" y="28872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</a:rPr>
              <a:t>CAPACIDADES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3042000"/>
            <a:ext cx="2286000" cy="252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000" y="3052800"/>
            <a:ext cx="2178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>
                <a:solidFill>
                  <a:srgbClr val="333333"/>
                </a:solidFill>
              </a:rPr>
              <a:t>—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3294000"/>
            <a:ext cx="2286000" cy="162000"/>
          </a:xfrm>
          <a:prstGeom prst="rect">
            <a:avLst/>
          </a:prstGeom>
          <a:solidFill>
            <a:srgbClr val="B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000" y="33012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</a:rPr>
              <a:t>ARMAMENTO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3456000"/>
            <a:ext cx="2286000" cy="2880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4000" y="3466800"/>
            <a:ext cx="2178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50" b="0">
                <a:solidFill>
                  <a:srgbClr val="333333"/>
                </a:solidFill>
              </a:rPr>
              <a:t>—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3744000"/>
            <a:ext cx="2286000" cy="-543600"/>
          </a:xfrm>
          <a:prstGeom prst="rect">
            <a:avLst/>
          </a:prstGeom>
          <a:solidFill>
            <a:srgbClr val="7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000" y="3762000"/>
            <a:ext cx="2178000" cy="-57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0">
                <a:solidFill>
                  <a:srgbClr val="FFFFFF"/>
                </a:solidFill>
              </a:rPr>
              <a:t>ℹ AOR Cl. Korvas. 24 FP. Proteger.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0"/>
            <a:ext cx="2286000" cy="3200400"/>
          </a:xfrm>
          <a:prstGeom prst="rect">
            <a:avLst/>
          </a:prstGeom>
          <a:noFill/>
          <a:ln w="21600">
            <a:solidFill>
              <a:srgbClr val="7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0" cy="3200400"/>
          </a:xfrm>
          <a:prstGeom prst="rect">
            <a:avLst/>
          </a:prstGeom>
          <a:solidFill>
            <a:srgbClr val="FFFFFF"/>
          </a:solidFill>
          <a:ln w="18000">
            <a:solidFill>
              <a:srgbClr val="7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0" cy="396000"/>
          </a:xfrm>
          <a:prstGeom prst="rect">
            <a:avLst/>
          </a:prstGeom>
          <a:solidFill>
            <a:srgbClr val="7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" y="18000"/>
            <a:ext cx="16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" b="1">
                <a:solidFill>
                  <a:srgbClr val="FFFFFF"/>
                </a:solidFill>
              </a:rPr>
              <a:t>FORÇA VERMELHA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" y="198000"/>
            <a:ext cx="2214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FFCC00"/>
                </a:solidFill>
              </a:rPr>
              <a:t>⚓ Superfície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396000"/>
            <a:ext cx="2286000" cy="288000"/>
          </a:xfrm>
          <a:prstGeom prst="rect">
            <a:avLst/>
          </a:prstGeom>
          <a:solidFill>
            <a:srgbClr val="B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000" y="403200"/>
            <a:ext cx="2214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ANFIB-E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4000"/>
            <a:ext cx="2286000" cy="216000"/>
          </a:xfrm>
          <a:prstGeom prst="rect">
            <a:avLst/>
          </a:prstGeom>
          <a:solidFill>
            <a:srgbClr val="FFD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000" y="691200"/>
            <a:ext cx="2214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7F0000"/>
                </a:solidFill>
              </a:rPr>
              <a:t>Grupo Anfíbio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000" y="918000"/>
            <a:ext cx="2178000" cy="504000"/>
          </a:xfrm>
          <a:prstGeom prst="rect">
            <a:avLst/>
          </a:prstGeom>
          <a:solidFill>
            <a:srgbClr val="F0F0F0"/>
          </a:solidFill>
          <a:ln w="1080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000" y="936000"/>
            <a:ext cx="2178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BB0000"/>
                </a:solidFill>
              </a:rPr>
              <a:t>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000" y="1314000"/>
            <a:ext cx="217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50" b="0">
                <a:solidFill>
                  <a:srgbClr val="333333"/>
                </a:solidFill>
              </a:rPr>
              <a:t>2× Navio Doca  |  2× Navio Desembarque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1458000"/>
            <a:ext cx="2286000" cy="162000"/>
          </a:xfrm>
          <a:prstGeom prst="rect">
            <a:avLst/>
          </a:prstGeom>
          <a:solidFill>
            <a:srgbClr val="7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000" y="14688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FFFFFF"/>
                </a:solidFill>
              </a:rPr>
              <a:t>ATRIBUTOS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16200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000" y="16308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Staying Power (HP)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6000" y="16308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7F0000"/>
                </a:solidFill>
              </a:rPr>
              <a:t>14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000" y="18216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18288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000" y="18396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Movimento (hexes/turno)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6000" y="18396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7F0000"/>
                </a:solidFill>
              </a:rPr>
              <a:t>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000" y="20304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20376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000" y="20484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Detecção (melhor)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6000" y="20484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7F0000"/>
                </a:solidFill>
              </a:rPr>
              <a:t>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000" y="22392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22464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000" y="22572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Alcance Ataque (melhor)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86000" y="22572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7F0000"/>
                </a:solidFill>
              </a:rPr>
              <a:t>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000" y="24480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24552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000" y="24660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Armamento (total)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86000" y="24660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7F0000"/>
                </a:solidFill>
              </a:rPr>
              <a:t>—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000" y="26568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26640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000" y="26748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Combustível (FP)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86000" y="26748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7F0000"/>
                </a:solidFill>
              </a:rPr>
              <a:t>12 FP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000" y="28656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2880000"/>
            <a:ext cx="2286000" cy="162000"/>
          </a:xfrm>
          <a:prstGeom prst="rect">
            <a:avLst/>
          </a:prstGeom>
          <a:solidFill>
            <a:srgbClr val="B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000" y="28872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</a:rPr>
              <a:t>CAPACIDADES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3042000"/>
            <a:ext cx="2286000" cy="252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000" y="3052800"/>
            <a:ext cx="2178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>
                <a:solidFill>
                  <a:srgbClr val="333333"/>
                </a:solidFill>
              </a:rPr>
              <a:t>Artilharia: 4  |  Def. Aérea: 4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3294000"/>
            <a:ext cx="2286000" cy="162000"/>
          </a:xfrm>
          <a:prstGeom prst="rect">
            <a:avLst/>
          </a:prstGeom>
          <a:solidFill>
            <a:srgbClr val="B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000" y="33012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</a:rPr>
              <a:t>ARMAMENTO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3456000"/>
            <a:ext cx="2286000" cy="2880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4000" y="3466800"/>
            <a:ext cx="2178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50" b="0">
                <a:solidFill>
                  <a:srgbClr val="333333"/>
                </a:solidFill>
              </a:rPr>
              <a:t>—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3744000"/>
            <a:ext cx="2286000" cy="-543600"/>
          </a:xfrm>
          <a:prstGeom prst="rect">
            <a:avLst/>
          </a:prstGeom>
          <a:solidFill>
            <a:srgbClr val="7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000" y="3762000"/>
            <a:ext cx="2178000" cy="-57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0">
                <a:solidFill>
                  <a:srgbClr val="FFFFFF"/>
                </a:solidFill>
              </a:rPr>
              <a:t>ℹ 1× LPD Harnax + 2× LST Morvask. Crítico.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0"/>
            <a:ext cx="2286000" cy="3200400"/>
          </a:xfrm>
          <a:prstGeom prst="rect">
            <a:avLst/>
          </a:prstGeom>
          <a:noFill/>
          <a:ln w="21600">
            <a:solidFill>
              <a:srgbClr val="7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0" cy="3200400"/>
          </a:xfrm>
          <a:prstGeom prst="rect">
            <a:avLst/>
          </a:prstGeom>
          <a:solidFill>
            <a:srgbClr val="FFFFFF"/>
          </a:solidFill>
          <a:ln w="18000">
            <a:solidFill>
              <a:srgbClr val="7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0" cy="396000"/>
          </a:xfrm>
          <a:prstGeom prst="rect">
            <a:avLst/>
          </a:prstGeom>
          <a:solidFill>
            <a:srgbClr val="7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" y="18000"/>
            <a:ext cx="16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" b="1">
                <a:solidFill>
                  <a:srgbClr val="FFFFFF"/>
                </a:solidFill>
              </a:rPr>
              <a:t>FORÇA VERMELHA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" y="198000"/>
            <a:ext cx="2214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FFCC00"/>
                </a:solidFill>
              </a:rPr>
              <a:t>⚓ Superfície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396000"/>
            <a:ext cx="2286000" cy="288000"/>
          </a:xfrm>
          <a:prstGeom prst="rect">
            <a:avLst/>
          </a:prstGeom>
          <a:solidFill>
            <a:srgbClr val="B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000" y="403200"/>
            <a:ext cx="2214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LOG1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4000"/>
            <a:ext cx="2286000" cy="216000"/>
          </a:xfrm>
          <a:prstGeom prst="rect">
            <a:avLst/>
          </a:prstGeom>
          <a:solidFill>
            <a:srgbClr val="FFD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000" y="691200"/>
            <a:ext cx="2214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7F0000"/>
                </a:solidFill>
              </a:rPr>
              <a:t>Grupo Logístico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000" y="918000"/>
            <a:ext cx="2178000" cy="504000"/>
          </a:xfrm>
          <a:prstGeom prst="rect">
            <a:avLst/>
          </a:prstGeom>
          <a:solidFill>
            <a:srgbClr val="F0F0F0"/>
          </a:solidFill>
          <a:ln w="1080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000" y="936000"/>
            <a:ext cx="2178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BB0000"/>
                </a:solidFill>
              </a:rPr>
              <a:t>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000" y="1314000"/>
            <a:ext cx="217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50" b="0">
                <a:solidFill>
                  <a:srgbClr val="333333"/>
                </a:solidFill>
              </a:rPr>
              <a:t>2× Navio Logístico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1458000"/>
            <a:ext cx="2286000" cy="162000"/>
          </a:xfrm>
          <a:prstGeom prst="rect">
            <a:avLst/>
          </a:prstGeom>
          <a:solidFill>
            <a:srgbClr val="7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000" y="14688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FFFFFF"/>
                </a:solidFill>
              </a:rPr>
              <a:t>ATRIBUTOS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16200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000" y="16308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Staying Power (HP)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6000" y="16308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7F0000"/>
                </a:solidFill>
              </a:rPr>
              <a:t>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000" y="18216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18288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000" y="18396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Movimento (hexes/turno)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6000" y="18396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7F0000"/>
                </a:solidFill>
              </a:rPr>
              <a:t>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000" y="20304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20376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000" y="20484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Detecção (melhor)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6000" y="20484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7F0000"/>
                </a:solidFill>
              </a:rPr>
              <a:t>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000" y="22392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22464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000" y="22572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Alcance Ataque (melhor)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86000" y="22572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7F0000"/>
                </a:solidFill>
              </a:rPr>
              <a:t>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000" y="24480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24552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000" y="24660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Armamento (total)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86000" y="24660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7F0000"/>
                </a:solidFill>
              </a:rPr>
              <a:t>—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000" y="26568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26640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000" y="26748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Combustível (FP)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86000" y="26748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7F0000"/>
                </a:solidFill>
              </a:rPr>
              <a:t>30 FP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000" y="28656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2880000"/>
            <a:ext cx="2286000" cy="162000"/>
          </a:xfrm>
          <a:prstGeom prst="rect">
            <a:avLst/>
          </a:prstGeom>
          <a:solidFill>
            <a:srgbClr val="B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000" y="28872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</a:rPr>
              <a:t>CAPACIDADES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3042000"/>
            <a:ext cx="2286000" cy="252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000" y="3052800"/>
            <a:ext cx="2178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>
                <a:solidFill>
                  <a:srgbClr val="333333"/>
                </a:solidFill>
              </a:rPr>
              <a:t>—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3294000"/>
            <a:ext cx="2286000" cy="162000"/>
          </a:xfrm>
          <a:prstGeom prst="rect">
            <a:avLst/>
          </a:prstGeom>
          <a:solidFill>
            <a:srgbClr val="B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000" y="33012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</a:rPr>
              <a:t>ARMAMENTO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3456000"/>
            <a:ext cx="2286000" cy="2880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4000" y="3466800"/>
            <a:ext cx="2178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50" b="0">
                <a:solidFill>
                  <a:srgbClr val="333333"/>
                </a:solidFill>
              </a:rPr>
              <a:t>—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3744000"/>
            <a:ext cx="2286000" cy="-543600"/>
          </a:xfrm>
          <a:prstGeom prst="rect">
            <a:avLst/>
          </a:prstGeom>
          <a:solidFill>
            <a:srgbClr val="7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000" y="3762000"/>
            <a:ext cx="2178000" cy="-57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0">
                <a:solidFill>
                  <a:srgbClr val="FFFFFF"/>
                </a:solidFill>
              </a:rPr>
              <a:t>ℹ AOR Korvas + AOT Brennar. 30 FP.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0"/>
            <a:ext cx="2286000" cy="3200400"/>
          </a:xfrm>
          <a:prstGeom prst="rect">
            <a:avLst/>
          </a:prstGeom>
          <a:noFill/>
          <a:ln w="21600">
            <a:solidFill>
              <a:srgbClr val="7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0" cy="3200400"/>
          </a:xfrm>
          <a:prstGeom prst="rect">
            <a:avLst/>
          </a:prstGeom>
          <a:solidFill>
            <a:srgbClr val="FFFFFF"/>
          </a:solidFill>
          <a:ln w="18000">
            <a:solidFill>
              <a:srgbClr val="7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0" cy="396000"/>
          </a:xfrm>
          <a:prstGeom prst="rect">
            <a:avLst/>
          </a:prstGeom>
          <a:solidFill>
            <a:srgbClr val="7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" y="18000"/>
            <a:ext cx="16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" b="1">
                <a:solidFill>
                  <a:srgbClr val="FFFFFF"/>
                </a:solidFill>
              </a:rPr>
              <a:t>FORÇA VERMELHA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" y="198000"/>
            <a:ext cx="2214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FFCC00"/>
                </a:solidFill>
              </a:rPr>
              <a:t>⚓ Superfície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396000"/>
            <a:ext cx="2286000" cy="288000"/>
          </a:xfrm>
          <a:prstGeom prst="rect">
            <a:avLst/>
          </a:prstGeom>
          <a:solidFill>
            <a:srgbClr val="B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000" y="403200"/>
            <a:ext cx="2214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LOG2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4000"/>
            <a:ext cx="2286000" cy="216000"/>
          </a:xfrm>
          <a:prstGeom prst="rect">
            <a:avLst/>
          </a:prstGeom>
          <a:solidFill>
            <a:srgbClr val="FFD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000" y="691200"/>
            <a:ext cx="2214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7F0000"/>
                </a:solidFill>
              </a:rPr>
              <a:t>Navio de Munições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000" y="918000"/>
            <a:ext cx="2178000" cy="504000"/>
          </a:xfrm>
          <a:prstGeom prst="rect">
            <a:avLst/>
          </a:prstGeom>
          <a:solidFill>
            <a:srgbClr val="F0F0F0"/>
          </a:solidFill>
          <a:ln w="1080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000" y="936000"/>
            <a:ext cx="2178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BB0000"/>
                </a:solidFill>
              </a:rPr>
              <a:t>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000" y="1314000"/>
            <a:ext cx="217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50" b="0">
                <a:solidFill>
                  <a:srgbClr val="333333"/>
                </a:solidFill>
              </a:rPr>
              <a:t>2× Navio Logístico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1458000"/>
            <a:ext cx="2286000" cy="162000"/>
          </a:xfrm>
          <a:prstGeom prst="rect">
            <a:avLst/>
          </a:prstGeom>
          <a:solidFill>
            <a:srgbClr val="7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000" y="14688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FFFFFF"/>
                </a:solidFill>
              </a:rPr>
              <a:t>ATRIBUTOS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16200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000" y="16308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Staying Power (HP)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6000" y="16308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7F0000"/>
                </a:solidFill>
              </a:rPr>
              <a:t>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000" y="18216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18288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000" y="18396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Movimento (hexes/turno)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6000" y="18396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7F0000"/>
                </a:solidFill>
              </a:rPr>
              <a:t>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000" y="20304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20376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000" y="20484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Detecção (melhor)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6000" y="20484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7F0000"/>
                </a:solidFill>
              </a:rPr>
              <a:t>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000" y="22392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22464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000" y="22572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Alcance Ataque (melhor)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86000" y="22572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7F0000"/>
                </a:solidFill>
              </a:rPr>
              <a:t>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000" y="24480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24552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000" y="24660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Armamento (total)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86000" y="24660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7F0000"/>
                </a:solidFill>
              </a:rPr>
              <a:t>—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000" y="26568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26640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000" y="26748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Combustível (FP)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86000" y="26748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7F0000"/>
                </a:solidFill>
              </a:rPr>
              <a:t>8 FP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000" y="28656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2880000"/>
            <a:ext cx="2286000" cy="162000"/>
          </a:xfrm>
          <a:prstGeom prst="rect">
            <a:avLst/>
          </a:prstGeom>
          <a:solidFill>
            <a:srgbClr val="B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000" y="28872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</a:rPr>
              <a:t>CAPACIDADES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3042000"/>
            <a:ext cx="2286000" cy="252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000" y="3052800"/>
            <a:ext cx="2178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>
                <a:solidFill>
                  <a:srgbClr val="333333"/>
                </a:solidFill>
              </a:rPr>
              <a:t>—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3294000"/>
            <a:ext cx="2286000" cy="162000"/>
          </a:xfrm>
          <a:prstGeom prst="rect">
            <a:avLst/>
          </a:prstGeom>
          <a:solidFill>
            <a:srgbClr val="B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000" y="33012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</a:rPr>
              <a:t>ARMAMENTO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3456000"/>
            <a:ext cx="2286000" cy="2880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4000" y="3466800"/>
            <a:ext cx="2178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50" b="0">
                <a:solidFill>
                  <a:srgbClr val="333333"/>
                </a:solidFill>
              </a:rPr>
              <a:t>—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3744000"/>
            <a:ext cx="2286000" cy="-543600"/>
          </a:xfrm>
          <a:prstGeom prst="rect">
            <a:avLst/>
          </a:prstGeom>
          <a:solidFill>
            <a:srgbClr val="7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000" y="3762000"/>
            <a:ext cx="2178000" cy="-57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0">
                <a:solidFill>
                  <a:srgbClr val="FFFFFF"/>
                </a:solidFill>
              </a:rPr>
              <a:t>ℹ AKE Cl. Yarven. 8 FP. Único rearm. em mar.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0"/>
            <a:ext cx="2286000" cy="3200400"/>
          </a:xfrm>
          <a:prstGeom prst="rect">
            <a:avLst/>
          </a:prstGeom>
          <a:noFill/>
          <a:ln w="21600">
            <a:solidFill>
              <a:srgbClr val="7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0" cy="3200400"/>
          </a:xfrm>
          <a:prstGeom prst="rect">
            <a:avLst/>
          </a:prstGeom>
          <a:solidFill>
            <a:srgbClr val="FFFFFF"/>
          </a:solidFill>
          <a:ln w="18000">
            <a:solidFill>
              <a:srgbClr val="7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0" cy="396000"/>
          </a:xfrm>
          <a:prstGeom prst="rect">
            <a:avLst/>
          </a:prstGeom>
          <a:solidFill>
            <a:srgbClr val="7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" y="18000"/>
            <a:ext cx="16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" b="1">
                <a:solidFill>
                  <a:srgbClr val="FFFFFF"/>
                </a:solidFill>
              </a:rPr>
              <a:t>FORÇA VERMELHA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" y="198000"/>
            <a:ext cx="2214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FFCC00"/>
                </a:solidFill>
              </a:rPr>
              <a:t>〰 Submarino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396000"/>
            <a:ext cx="2286000" cy="288000"/>
          </a:xfrm>
          <a:prstGeom prst="rect">
            <a:avLst/>
          </a:prstGeom>
          <a:solidFill>
            <a:srgbClr val="B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000" y="403200"/>
            <a:ext cx="2214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SBN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4000"/>
            <a:ext cx="2286000" cy="216000"/>
          </a:xfrm>
          <a:prstGeom prst="rect">
            <a:avLst/>
          </a:prstGeom>
          <a:solidFill>
            <a:srgbClr val="FFD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000" y="691200"/>
            <a:ext cx="2214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7F0000"/>
                </a:solidFill>
              </a:rPr>
              <a:t>Submarino Nuclear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000" y="918000"/>
            <a:ext cx="2178000" cy="504000"/>
          </a:xfrm>
          <a:prstGeom prst="rect">
            <a:avLst/>
          </a:prstGeom>
          <a:solidFill>
            <a:srgbClr val="F0F0F0"/>
          </a:solidFill>
          <a:ln w="1080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000" y="936000"/>
            <a:ext cx="2178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BB0000"/>
                </a:solidFill>
              </a:rPr>
              <a:t>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000" y="1314000"/>
            <a:ext cx="217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50" b="0">
                <a:solidFill>
                  <a:srgbClr val="333333"/>
                </a:solidFill>
              </a:rPr>
              <a:t>1× Sub Nuclear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1458000"/>
            <a:ext cx="2286000" cy="162000"/>
          </a:xfrm>
          <a:prstGeom prst="rect">
            <a:avLst/>
          </a:prstGeom>
          <a:solidFill>
            <a:srgbClr val="7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000" y="14688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FFFFFF"/>
                </a:solidFill>
              </a:rPr>
              <a:t>ATRIBUTOS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16200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000" y="16308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Staying Power (HP)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6000" y="16308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7F0000"/>
                </a:solidFill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000" y="18216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18288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000" y="18396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Movimento (hexes/turno)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6000" y="18396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7F0000"/>
                </a:solidFill>
              </a:rPr>
              <a:t>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000" y="20304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20376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000" y="20484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Detecção (melhor)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6000" y="20484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7F0000"/>
                </a:solidFill>
              </a:rPr>
              <a:t>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000" y="22392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22464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000" y="22572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Alcance Ataque (melhor)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86000" y="22572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7F0000"/>
                </a:solidFill>
              </a:rPr>
              <a:t>8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000" y="24480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24552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000" y="24660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Armamento (total)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86000" y="24660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7F0000"/>
                </a:solidFill>
              </a:rPr>
              <a:t>24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000" y="26568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26640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000" y="26748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Combustível (FP)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86000" y="26748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7F0000"/>
                </a:solidFill>
              </a:rPr>
              <a:t>∞ (Nuclear)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000" y="28656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2880000"/>
            <a:ext cx="2286000" cy="162000"/>
          </a:xfrm>
          <a:prstGeom prst="rect">
            <a:avLst/>
          </a:prstGeom>
          <a:solidFill>
            <a:srgbClr val="B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000" y="28872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</a:rPr>
              <a:t>CAPACIDADES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3042000"/>
            <a:ext cx="2286000" cy="252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000" y="3052800"/>
            <a:ext cx="2178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>
                <a:solidFill>
                  <a:srgbClr val="333333"/>
                </a:solidFill>
              </a:rPr>
              <a:t>ASW: 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3294000"/>
            <a:ext cx="2286000" cy="162000"/>
          </a:xfrm>
          <a:prstGeom prst="rect">
            <a:avLst/>
          </a:prstGeom>
          <a:solidFill>
            <a:srgbClr val="B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000" y="33012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</a:rPr>
              <a:t>ARMAMENTO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3456000"/>
            <a:ext cx="2286000" cy="2880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4000" y="3466800"/>
            <a:ext cx="2178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50" b="0">
                <a:solidFill>
                  <a:srgbClr val="333333"/>
                </a:solidFill>
              </a:rPr>
              <a:t>ASCM ×8 (R:6)  |  Torpedo ×12 (R:2)  |  LACM ×4 (R:10)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3744000"/>
            <a:ext cx="2286000" cy="-543600"/>
          </a:xfrm>
          <a:prstGeom prst="rect">
            <a:avLst/>
          </a:prstGeom>
          <a:solidFill>
            <a:srgbClr val="7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000" y="3762000"/>
            <a:ext cx="2178000" cy="-57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0">
                <a:solidFill>
                  <a:srgbClr val="FFFFFF"/>
                </a:solidFill>
              </a:rPr>
              <a:t>ℹ KAR Veylan (SSN). Nuclear. Posição secreta.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0"/>
            <a:ext cx="2286000" cy="3200400"/>
          </a:xfrm>
          <a:prstGeom prst="rect">
            <a:avLst/>
          </a:prstGeom>
          <a:noFill/>
          <a:ln w="21600">
            <a:solidFill>
              <a:srgbClr val="7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0" cy="3200400"/>
          </a:xfrm>
          <a:prstGeom prst="rect">
            <a:avLst/>
          </a:prstGeom>
          <a:solidFill>
            <a:srgbClr val="FFFFFF"/>
          </a:solidFill>
          <a:ln w="18000">
            <a:solidFill>
              <a:srgbClr val="7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0" cy="396000"/>
          </a:xfrm>
          <a:prstGeom prst="rect">
            <a:avLst/>
          </a:prstGeom>
          <a:solidFill>
            <a:srgbClr val="7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" y="18000"/>
            <a:ext cx="16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" b="1">
                <a:solidFill>
                  <a:srgbClr val="FFFFFF"/>
                </a:solidFill>
              </a:rPr>
              <a:t>FORÇA VERMELHA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" y="198000"/>
            <a:ext cx="2214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FFCC00"/>
                </a:solidFill>
              </a:rPr>
              <a:t>〰 Submarino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396000"/>
            <a:ext cx="2286000" cy="288000"/>
          </a:xfrm>
          <a:prstGeom prst="rect">
            <a:avLst/>
          </a:prstGeom>
          <a:solidFill>
            <a:srgbClr val="B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000" y="403200"/>
            <a:ext cx="2214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SB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4000"/>
            <a:ext cx="2286000" cy="216000"/>
          </a:xfrm>
          <a:prstGeom prst="rect">
            <a:avLst/>
          </a:prstGeom>
          <a:solidFill>
            <a:srgbClr val="FFD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000" y="691200"/>
            <a:ext cx="2214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7F0000"/>
                </a:solidFill>
              </a:rPr>
              <a:t>Submarino Convencional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000" y="918000"/>
            <a:ext cx="2178000" cy="504000"/>
          </a:xfrm>
          <a:prstGeom prst="rect">
            <a:avLst/>
          </a:prstGeom>
          <a:solidFill>
            <a:srgbClr val="F0F0F0"/>
          </a:solidFill>
          <a:ln w="1080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000" y="936000"/>
            <a:ext cx="2178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BB0000"/>
                </a:solidFill>
              </a:rPr>
              <a:t>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000" y="1314000"/>
            <a:ext cx="217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50" b="0">
                <a:solidFill>
                  <a:srgbClr val="333333"/>
                </a:solidFill>
              </a:rPr>
              <a:t>1× Sub Convencional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1458000"/>
            <a:ext cx="2286000" cy="162000"/>
          </a:xfrm>
          <a:prstGeom prst="rect">
            <a:avLst/>
          </a:prstGeom>
          <a:solidFill>
            <a:srgbClr val="7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000" y="14688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FFFFFF"/>
                </a:solidFill>
              </a:rPr>
              <a:t>ATRIBUTOS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16200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000" y="16308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Staying Power (HP)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6000" y="16308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7F0000"/>
                </a:solidFill>
              </a:rPr>
              <a:t>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000" y="18216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18288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000" y="18396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Movimento (hexes/turno)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6000" y="18396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7F0000"/>
                </a:solidFill>
              </a:rPr>
              <a:t>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000" y="20304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20376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000" y="20484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Detecção (melhor)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6000" y="20484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7F0000"/>
                </a:solidFill>
              </a:rPr>
              <a:t>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000" y="22392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22464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000" y="22572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Alcance Ataque (melhor)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86000" y="22572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7F0000"/>
                </a:solidFill>
              </a:rPr>
              <a:t>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000" y="24480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24552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000" y="24660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Armamento (total)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86000" y="24660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7F0000"/>
                </a:solidFill>
              </a:rPr>
              <a:t>10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000" y="26568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26640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000" y="26748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Combustível (FP)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86000" y="26748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7F0000"/>
                </a:solidFill>
              </a:rPr>
              <a:t>20 FP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000" y="28656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2880000"/>
            <a:ext cx="2286000" cy="162000"/>
          </a:xfrm>
          <a:prstGeom prst="rect">
            <a:avLst/>
          </a:prstGeom>
          <a:solidFill>
            <a:srgbClr val="B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000" y="28872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</a:rPr>
              <a:t>CAPACIDADES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3042000"/>
            <a:ext cx="2286000" cy="252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000" y="3052800"/>
            <a:ext cx="2178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>
                <a:solidFill>
                  <a:srgbClr val="333333"/>
                </a:solidFill>
              </a:rPr>
              <a:t>ASW: 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3294000"/>
            <a:ext cx="2286000" cy="162000"/>
          </a:xfrm>
          <a:prstGeom prst="rect">
            <a:avLst/>
          </a:prstGeom>
          <a:solidFill>
            <a:srgbClr val="B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000" y="33012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</a:rPr>
              <a:t>ARMAMENTO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3456000"/>
            <a:ext cx="2286000" cy="2880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4000" y="3466800"/>
            <a:ext cx="2178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50" b="0">
                <a:solidFill>
                  <a:srgbClr val="333333"/>
                </a:solidFill>
              </a:rPr>
              <a:t>ASCM ×4 (R:6)  |  Torpedo ×6 (R:2)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3744000"/>
            <a:ext cx="2286000" cy="-543600"/>
          </a:xfrm>
          <a:prstGeom prst="rect">
            <a:avLst/>
          </a:prstGeom>
          <a:solidFill>
            <a:srgbClr val="7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000" y="3762000"/>
            <a:ext cx="2178000" cy="-57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0">
                <a:solidFill>
                  <a:srgbClr val="FFFFFF"/>
                </a:solidFill>
              </a:rPr>
              <a:t>ℹ KAR Skarn. Posição secreta.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0"/>
            <a:ext cx="2286000" cy="3200400"/>
          </a:xfrm>
          <a:prstGeom prst="rect">
            <a:avLst/>
          </a:prstGeom>
          <a:noFill/>
          <a:ln w="21600">
            <a:solidFill>
              <a:srgbClr val="7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0" cy="3200400"/>
          </a:xfrm>
          <a:prstGeom prst="rect">
            <a:avLst/>
          </a:prstGeom>
          <a:solidFill>
            <a:srgbClr val="FFFFFF"/>
          </a:solidFill>
          <a:ln w="18000">
            <a:solidFill>
              <a:srgbClr val="7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0" cy="396000"/>
          </a:xfrm>
          <a:prstGeom prst="rect">
            <a:avLst/>
          </a:prstGeom>
          <a:solidFill>
            <a:srgbClr val="7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" y="18000"/>
            <a:ext cx="16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" b="1">
                <a:solidFill>
                  <a:srgbClr val="FFFFFF"/>
                </a:solidFill>
              </a:rPr>
              <a:t>FORÇA VERMELHA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" y="198000"/>
            <a:ext cx="2214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FFCC00"/>
                </a:solidFill>
              </a:rPr>
              <a:t>✈ Aéreo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396000"/>
            <a:ext cx="2286000" cy="288000"/>
          </a:xfrm>
          <a:prstGeom prst="rect">
            <a:avLst/>
          </a:prstGeom>
          <a:solidFill>
            <a:srgbClr val="B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000" y="403200"/>
            <a:ext cx="2214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PAC1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4000"/>
            <a:ext cx="2286000" cy="216000"/>
          </a:xfrm>
          <a:prstGeom prst="rect">
            <a:avLst/>
          </a:prstGeom>
          <a:solidFill>
            <a:srgbClr val="FFD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000" y="691200"/>
            <a:ext cx="2214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7F0000"/>
                </a:solidFill>
              </a:rPr>
              <a:t>Esquadrão de Caça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000" y="918000"/>
            <a:ext cx="2178000" cy="504000"/>
          </a:xfrm>
          <a:prstGeom prst="rect">
            <a:avLst/>
          </a:prstGeom>
          <a:solidFill>
            <a:srgbClr val="F0F0F0"/>
          </a:solidFill>
          <a:ln w="1080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000" y="936000"/>
            <a:ext cx="2178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BB0000"/>
                </a:solidFill>
              </a:rPr>
              <a:t>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000" y="1314000"/>
            <a:ext cx="217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50" b="0">
                <a:solidFill>
                  <a:srgbClr val="333333"/>
                </a:solidFill>
              </a:rPr>
              <a:t>8× Caça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1458000"/>
            <a:ext cx="2286000" cy="162000"/>
          </a:xfrm>
          <a:prstGeom prst="rect">
            <a:avLst/>
          </a:prstGeom>
          <a:solidFill>
            <a:srgbClr val="7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000" y="14688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FFFFFF"/>
                </a:solidFill>
              </a:rPr>
              <a:t>ATRIBUTOS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16200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000" y="16308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Staying Power (HP)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6000" y="16308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7F0000"/>
                </a:solidFill>
              </a:rPr>
              <a:t>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000" y="18216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18288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000" y="18396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Movimento (hexes/turno)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6000" y="18396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7F0000"/>
                </a:solidFill>
              </a:rPr>
              <a:t>10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000" y="20304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20376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000" y="20484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Detecção (melhor)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6000" y="20484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7F0000"/>
                </a:solidFill>
              </a:rPr>
              <a:t>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000" y="22392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22464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000" y="22572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Alcance Ataque (melhor)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86000" y="22572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7F0000"/>
                </a:solidFill>
              </a:rPr>
              <a:t>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000" y="24480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24552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000" y="24660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Armamento (total)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86000" y="24660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7F0000"/>
                </a:solidFill>
              </a:rPr>
              <a:t>—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000" y="26568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26640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000" y="26748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Combustível (FP)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86000" y="26748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7F0000"/>
                </a:solidFill>
              </a:rPr>
              <a:t>10 FP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000" y="28656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2880000"/>
            <a:ext cx="2286000" cy="162000"/>
          </a:xfrm>
          <a:prstGeom prst="rect">
            <a:avLst/>
          </a:prstGeom>
          <a:solidFill>
            <a:srgbClr val="B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000" y="28872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</a:rPr>
              <a:t>CAPACIDADES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3042000"/>
            <a:ext cx="2286000" cy="252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000" y="3052800"/>
            <a:ext cx="2178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>
                <a:solidFill>
                  <a:srgbClr val="333333"/>
                </a:solidFill>
              </a:rPr>
              <a:t>Def. Aérea: 8  |  Ataque Aéreo: 8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3294000"/>
            <a:ext cx="2286000" cy="162000"/>
          </a:xfrm>
          <a:prstGeom prst="rect">
            <a:avLst/>
          </a:prstGeom>
          <a:solidFill>
            <a:srgbClr val="B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000" y="33012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</a:rPr>
              <a:t>ARMAMENTO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3456000"/>
            <a:ext cx="2286000" cy="2880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4000" y="3466800"/>
            <a:ext cx="2178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50" b="0">
                <a:solidFill>
                  <a:srgbClr val="333333"/>
                </a:solidFill>
              </a:rPr>
              <a:t>—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3744000"/>
            <a:ext cx="2286000" cy="-543600"/>
          </a:xfrm>
          <a:prstGeom prst="rect">
            <a:avLst/>
          </a:prstGeom>
          <a:solidFill>
            <a:srgbClr val="7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000" y="3762000"/>
            <a:ext cx="2178000" cy="-57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0">
                <a:solidFill>
                  <a:srgbClr val="FFFFFF"/>
                </a:solidFill>
              </a:rPr>
              <a:t>ℹ KMF-22 Sturmadler 4.5ª ger. Embarcado KCV.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0"/>
            <a:ext cx="2286000" cy="3200400"/>
          </a:xfrm>
          <a:prstGeom prst="rect">
            <a:avLst/>
          </a:prstGeom>
          <a:noFill/>
          <a:ln w="21600">
            <a:solidFill>
              <a:srgbClr val="7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0" cy="3200400"/>
          </a:xfrm>
          <a:prstGeom prst="rect">
            <a:avLst/>
          </a:prstGeom>
          <a:solidFill>
            <a:srgbClr val="FFFFFF"/>
          </a:solidFill>
          <a:ln w="18000">
            <a:solidFill>
              <a:srgbClr val="7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0" cy="396000"/>
          </a:xfrm>
          <a:prstGeom prst="rect">
            <a:avLst/>
          </a:prstGeom>
          <a:solidFill>
            <a:srgbClr val="7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" y="18000"/>
            <a:ext cx="16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" b="1">
                <a:solidFill>
                  <a:srgbClr val="FFFFFF"/>
                </a:solidFill>
              </a:rPr>
              <a:t>FORÇA VERMELHA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" y="198000"/>
            <a:ext cx="2214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FFCC00"/>
                </a:solidFill>
              </a:rPr>
              <a:t>✈ Aéreo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396000"/>
            <a:ext cx="2286000" cy="288000"/>
          </a:xfrm>
          <a:prstGeom prst="rect">
            <a:avLst/>
          </a:prstGeom>
          <a:solidFill>
            <a:srgbClr val="B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000" y="403200"/>
            <a:ext cx="2214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PAC2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4000"/>
            <a:ext cx="2286000" cy="216000"/>
          </a:xfrm>
          <a:prstGeom prst="rect">
            <a:avLst/>
          </a:prstGeom>
          <a:solidFill>
            <a:srgbClr val="FFD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000" y="691200"/>
            <a:ext cx="2214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7F0000"/>
                </a:solidFill>
              </a:rPr>
              <a:t>Esquadrão de Caça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000" y="918000"/>
            <a:ext cx="2178000" cy="504000"/>
          </a:xfrm>
          <a:prstGeom prst="rect">
            <a:avLst/>
          </a:prstGeom>
          <a:solidFill>
            <a:srgbClr val="F0F0F0"/>
          </a:solidFill>
          <a:ln w="1080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000" y="936000"/>
            <a:ext cx="2178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BB0000"/>
                </a:solidFill>
              </a:rPr>
              <a:t>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000" y="1314000"/>
            <a:ext cx="217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50" b="0">
                <a:solidFill>
                  <a:srgbClr val="333333"/>
                </a:solidFill>
              </a:rPr>
              <a:t>8× Caça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1458000"/>
            <a:ext cx="2286000" cy="162000"/>
          </a:xfrm>
          <a:prstGeom prst="rect">
            <a:avLst/>
          </a:prstGeom>
          <a:solidFill>
            <a:srgbClr val="7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000" y="14688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FFFFFF"/>
                </a:solidFill>
              </a:rPr>
              <a:t>ATRIBUTOS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16200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000" y="16308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Staying Power (HP)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6000" y="16308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7F0000"/>
                </a:solidFill>
              </a:rPr>
              <a:t>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000" y="18216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18288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000" y="18396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Movimento (hexes/turno)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6000" y="18396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7F0000"/>
                </a:solidFill>
              </a:rPr>
              <a:t>10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000" y="20304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20376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000" y="20484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Detecção (melhor)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6000" y="20484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7F0000"/>
                </a:solidFill>
              </a:rPr>
              <a:t>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000" y="22392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22464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000" y="22572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Alcance Ataque (melhor)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86000" y="22572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7F0000"/>
                </a:solidFill>
              </a:rPr>
              <a:t>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000" y="24480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24552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000" y="24660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Armamento (total)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86000" y="24660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7F0000"/>
                </a:solidFill>
              </a:rPr>
              <a:t>—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000" y="26568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26640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000" y="26748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Combustível (FP)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86000" y="26748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7F0000"/>
                </a:solidFill>
              </a:rPr>
              <a:t>10 FP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000" y="28656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2880000"/>
            <a:ext cx="2286000" cy="162000"/>
          </a:xfrm>
          <a:prstGeom prst="rect">
            <a:avLst/>
          </a:prstGeom>
          <a:solidFill>
            <a:srgbClr val="B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000" y="28872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</a:rPr>
              <a:t>CAPACIDADES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3042000"/>
            <a:ext cx="2286000" cy="252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000" y="3052800"/>
            <a:ext cx="2178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>
                <a:solidFill>
                  <a:srgbClr val="333333"/>
                </a:solidFill>
              </a:rPr>
              <a:t>Def. Aérea: 8  |  Ataque Aéreo: 8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3294000"/>
            <a:ext cx="2286000" cy="162000"/>
          </a:xfrm>
          <a:prstGeom prst="rect">
            <a:avLst/>
          </a:prstGeom>
          <a:solidFill>
            <a:srgbClr val="B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000" y="33012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</a:rPr>
              <a:t>ARMAMENTO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3456000"/>
            <a:ext cx="2286000" cy="2880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4000" y="3466800"/>
            <a:ext cx="2178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50" b="0">
                <a:solidFill>
                  <a:srgbClr val="333333"/>
                </a:solidFill>
              </a:rPr>
              <a:t>—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3744000"/>
            <a:ext cx="2286000" cy="-543600"/>
          </a:xfrm>
          <a:prstGeom prst="rect">
            <a:avLst/>
          </a:prstGeom>
          <a:solidFill>
            <a:srgbClr val="7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000" y="3762000"/>
            <a:ext cx="2178000" cy="-57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0">
                <a:solidFill>
                  <a:srgbClr val="FFFFFF"/>
                </a:solidFill>
              </a:rPr>
              <a:t>ℹ KMF-22 Sturmadler 4.5ª ger. Embarcado KCV.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0"/>
            <a:ext cx="2286000" cy="3200400"/>
          </a:xfrm>
          <a:prstGeom prst="rect">
            <a:avLst/>
          </a:prstGeom>
          <a:noFill/>
          <a:ln w="21600">
            <a:solidFill>
              <a:srgbClr val="7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0" cy="3200400"/>
          </a:xfrm>
          <a:prstGeom prst="rect">
            <a:avLst/>
          </a:prstGeom>
          <a:solidFill>
            <a:srgbClr val="FFFFFF"/>
          </a:solidFill>
          <a:ln w="18000">
            <a:solidFill>
              <a:srgbClr val="7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0" cy="396000"/>
          </a:xfrm>
          <a:prstGeom prst="rect">
            <a:avLst/>
          </a:prstGeom>
          <a:solidFill>
            <a:srgbClr val="7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" y="18000"/>
            <a:ext cx="16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" b="1">
                <a:solidFill>
                  <a:srgbClr val="FFFFFF"/>
                </a:solidFill>
              </a:rPr>
              <a:t>FORÇA VERMELHA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" y="198000"/>
            <a:ext cx="2214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FFCC00"/>
                </a:solidFill>
              </a:rPr>
              <a:t>✈ Aéreo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396000"/>
            <a:ext cx="2286000" cy="288000"/>
          </a:xfrm>
          <a:prstGeom prst="rect">
            <a:avLst/>
          </a:prstGeom>
          <a:solidFill>
            <a:srgbClr val="B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000" y="403200"/>
            <a:ext cx="2214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PATMAR1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4000"/>
            <a:ext cx="2286000" cy="216000"/>
          </a:xfrm>
          <a:prstGeom prst="rect">
            <a:avLst/>
          </a:prstGeom>
          <a:solidFill>
            <a:srgbClr val="FFD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000" y="691200"/>
            <a:ext cx="2214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7F0000"/>
                </a:solidFill>
              </a:rPr>
              <a:t>Patrulha Marítima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000" y="918000"/>
            <a:ext cx="2178000" cy="504000"/>
          </a:xfrm>
          <a:prstGeom prst="rect">
            <a:avLst/>
          </a:prstGeom>
          <a:solidFill>
            <a:srgbClr val="F0F0F0"/>
          </a:solidFill>
          <a:ln w="1080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000" y="936000"/>
            <a:ext cx="2178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BB0000"/>
                </a:solidFill>
              </a:rPr>
              <a:t>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000" y="1314000"/>
            <a:ext cx="217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50" b="0">
                <a:solidFill>
                  <a:srgbClr val="333333"/>
                </a:solidFill>
              </a:rPr>
              <a:t>2× Patrulha Marítima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1458000"/>
            <a:ext cx="2286000" cy="162000"/>
          </a:xfrm>
          <a:prstGeom prst="rect">
            <a:avLst/>
          </a:prstGeom>
          <a:solidFill>
            <a:srgbClr val="7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000" y="14688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FFFFFF"/>
                </a:solidFill>
              </a:rPr>
              <a:t>ATRIBUTOS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16200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000" y="16308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Staying Power (HP)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6000" y="16308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7F0000"/>
                </a:solidFill>
              </a:rPr>
              <a:t>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000" y="18216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18288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000" y="18396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Movimento (hexes/turno)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6000" y="18396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7F0000"/>
                </a:solidFill>
              </a:rPr>
              <a:t>12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000" y="20304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20376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000" y="20484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Detecção (melhor)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6000" y="20484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7F0000"/>
                </a:solidFill>
              </a:rPr>
              <a:t>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000" y="22392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22464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000" y="22572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Alcance Ataque (melhor)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86000" y="22572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7F0000"/>
                </a:solidFill>
              </a:rPr>
              <a:t>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000" y="24480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24552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000" y="24660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Armamento (total)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86000" y="24660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7F0000"/>
                </a:solidFill>
              </a:rPr>
              <a:t>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000" y="26568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26640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000" y="26748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Combustível (FP)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86000" y="26748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7F0000"/>
                </a:solidFill>
              </a:rPr>
              <a:t>12 FP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000" y="28656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2880000"/>
            <a:ext cx="2286000" cy="162000"/>
          </a:xfrm>
          <a:prstGeom prst="rect">
            <a:avLst/>
          </a:prstGeom>
          <a:solidFill>
            <a:srgbClr val="B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000" y="28872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</a:rPr>
              <a:t>CAPACIDADES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3042000"/>
            <a:ext cx="2286000" cy="252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000" y="3052800"/>
            <a:ext cx="2178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>
                <a:solidFill>
                  <a:srgbClr val="333333"/>
                </a:solidFill>
              </a:rPr>
              <a:t>ASW: 2  |  Ataque Aéreo: 2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3294000"/>
            <a:ext cx="2286000" cy="162000"/>
          </a:xfrm>
          <a:prstGeom prst="rect">
            <a:avLst/>
          </a:prstGeom>
          <a:solidFill>
            <a:srgbClr val="B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000" y="33012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</a:rPr>
              <a:t>ARMAMENTO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3456000"/>
            <a:ext cx="2286000" cy="2880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4000" y="3466800"/>
            <a:ext cx="2178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50" b="0">
                <a:solidFill>
                  <a:srgbClr val="333333"/>
                </a:solidFill>
              </a:rPr>
              <a:t>ASCM ×2 (R:6)  |  MSS ×2 (R:2)  |  Torpedo ×2 (R:2)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3744000"/>
            <a:ext cx="2286000" cy="-543600"/>
          </a:xfrm>
          <a:prstGeom prst="rect">
            <a:avLst/>
          </a:prstGeom>
          <a:solidFill>
            <a:srgbClr val="7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000" y="3762000"/>
            <a:ext cx="2178000" cy="-57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0">
                <a:solidFill>
                  <a:srgbClr val="FFFFFF"/>
                </a:solidFill>
              </a:rPr>
              <a:t>ℹ K-32 Stormwatch. ASW + anti-superfície.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0"/>
            <a:ext cx="2286000" cy="3200400"/>
          </a:xfrm>
          <a:prstGeom prst="rect">
            <a:avLst/>
          </a:prstGeom>
          <a:noFill/>
          <a:ln w="21600">
            <a:solidFill>
              <a:srgbClr val="7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0" cy="3200400"/>
          </a:xfrm>
          <a:prstGeom prst="rect">
            <a:avLst/>
          </a:prstGeom>
          <a:solidFill>
            <a:srgbClr val="FFFFFF"/>
          </a:solidFill>
          <a:ln w="18000">
            <a:solidFill>
              <a:srgbClr val="7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0" cy="396000"/>
          </a:xfrm>
          <a:prstGeom prst="rect">
            <a:avLst/>
          </a:prstGeom>
          <a:solidFill>
            <a:srgbClr val="7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" y="18000"/>
            <a:ext cx="16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" b="1">
                <a:solidFill>
                  <a:srgbClr val="FFFFFF"/>
                </a:solidFill>
              </a:rPr>
              <a:t>FORÇA VERMELHA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" y="198000"/>
            <a:ext cx="2214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FFCC00"/>
                </a:solidFill>
              </a:rPr>
              <a:t>✈ Aéreo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396000"/>
            <a:ext cx="2286000" cy="288000"/>
          </a:xfrm>
          <a:prstGeom prst="rect">
            <a:avLst/>
          </a:prstGeom>
          <a:solidFill>
            <a:srgbClr val="B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000" y="403200"/>
            <a:ext cx="2214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PATMAR2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4000"/>
            <a:ext cx="2286000" cy="216000"/>
          </a:xfrm>
          <a:prstGeom prst="rect">
            <a:avLst/>
          </a:prstGeom>
          <a:solidFill>
            <a:srgbClr val="FFD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000" y="691200"/>
            <a:ext cx="2214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7F0000"/>
                </a:solidFill>
              </a:rPr>
              <a:t>Patrulha Marítima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000" y="918000"/>
            <a:ext cx="2178000" cy="504000"/>
          </a:xfrm>
          <a:prstGeom prst="rect">
            <a:avLst/>
          </a:prstGeom>
          <a:solidFill>
            <a:srgbClr val="F0F0F0"/>
          </a:solidFill>
          <a:ln w="1080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000" y="936000"/>
            <a:ext cx="2178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BB0000"/>
                </a:solidFill>
              </a:rPr>
              <a:t>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000" y="1314000"/>
            <a:ext cx="217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50" b="0">
                <a:solidFill>
                  <a:srgbClr val="333333"/>
                </a:solidFill>
              </a:rPr>
              <a:t>2× Patrulha Marítima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1458000"/>
            <a:ext cx="2286000" cy="162000"/>
          </a:xfrm>
          <a:prstGeom prst="rect">
            <a:avLst/>
          </a:prstGeom>
          <a:solidFill>
            <a:srgbClr val="7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000" y="14688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FFFFFF"/>
                </a:solidFill>
              </a:rPr>
              <a:t>ATRIBUTOS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16200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000" y="16308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Staying Power (HP)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6000" y="16308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7F0000"/>
                </a:solidFill>
              </a:rPr>
              <a:t>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000" y="18216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18288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000" y="18396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Movimento (hexes/turno)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6000" y="18396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7F0000"/>
                </a:solidFill>
              </a:rPr>
              <a:t>12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000" y="20304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20376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000" y="20484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Detecção (melhor)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6000" y="20484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7F0000"/>
                </a:solidFill>
              </a:rPr>
              <a:t>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000" y="22392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22464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000" y="22572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Alcance Ataque (melhor)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86000" y="22572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7F0000"/>
                </a:solidFill>
              </a:rPr>
              <a:t>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000" y="24480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24552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000" y="24660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Armamento (total)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86000" y="24660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7F0000"/>
                </a:solidFill>
              </a:rPr>
              <a:t>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000" y="26568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26640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000" y="26748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Combustível (FP)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86000" y="26748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7F0000"/>
                </a:solidFill>
              </a:rPr>
              <a:t>12 FP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000" y="28656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2880000"/>
            <a:ext cx="2286000" cy="162000"/>
          </a:xfrm>
          <a:prstGeom prst="rect">
            <a:avLst/>
          </a:prstGeom>
          <a:solidFill>
            <a:srgbClr val="B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000" y="28872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</a:rPr>
              <a:t>CAPACIDADES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3042000"/>
            <a:ext cx="2286000" cy="252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000" y="3052800"/>
            <a:ext cx="2178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>
                <a:solidFill>
                  <a:srgbClr val="333333"/>
                </a:solidFill>
              </a:rPr>
              <a:t>ASW: 2  |  Ataque Aéreo: 2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3294000"/>
            <a:ext cx="2286000" cy="162000"/>
          </a:xfrm>
          <a:prstGeom prst="rect">
            <a:avLst/>
          </a:prstGeom>
          <a:solidFill>
            <a:srgbClr val="B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000" y="33012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</a:rPr>
              <a:t>ARMAMENTO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3456000"/>
            <a:ext cx="2286000" cy="2880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4000" y="3466800"/>
            <a:ext cx="2178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50" b="0">
                <a:solidFill>
                  <a:srgbClr val="333333"/>
                </a:solidFill>
              </a:rPr>
              <a:t>ASCM ×2 (R:6)  |  MSS ×2 (R:2)  |  Torpedo ×2 (R:2)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3744000"/>
            <a:ext cx="2286000" cy="-543600"/>
          </a:xfrm>
          <a:prstGeom prst="rect">
            <a:avLst/>
          </a:prstGeom>
          <a:solidFill>
            <a:srgbClr val="7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000" y="3762000"/>
            <a:ext cx="2178000" cy="-57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0">
                <a:solidFill>
                  <a:srgbClr val="FFFFFF"/>
                </a:solidFill>
              </a:rPr>
              <a:t>ℹ K-32 Stormwatch. Embarcado KCV.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0"/>
            <a:ext cx="2286000" cy="3200400"/>
          </a:xfrm>
          <a:prstGeom prst="rect">
            <a:avLst/>
          </a:prstGeom>
          <a:noFill/>
          <a:ln w="21600">
            <a:solidFill>
              <a:srgbClr val="7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0" cy="3200400"/>
          </a:xfrm>
          <a:prstGeom prst="rect">
            <a:avLst/>
          </a:prstGeom>
          <a:solidFill>
            <a:srgbClr val="FFFFFF"/>
          </a:solidFill>
          <a:ln w="18000">
            <a:solidFill>
              <a:srgbClr val="7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0" cy="396000"/>
          </a:xfrm>
          <a:prstGeom prst="rect">
            <a:avLst/>
          </a:prstGeom>
          <a:solidFill>
            <a:srgbClr val="7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" y="18000"/>
            <a:ext cx="16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" b="1">
                <a:solidFill>
                  <a:srgbClr val="FFFFFF"/>
                </a:solidFill>
              </a:rPr>
              <a:t>FORÇA VERMELHA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" y="198000"/>
            <a:ext cx="2214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FFCC00"/>
                </a:solidFill>
              </a:rPr>
              <a:t>✈ Aéreo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396000"/>
            <a:ext cx="2286000" cy="288000"/>
          </a:xfrm>
          <a:prstGeom prst="rect">
            <a:avLst/>
          </a:prstGeom>
          <a:solidFill>
            <a:srgbClr val="B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000" y="403200"/>
            <a:ext cx="2214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AWACS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4000"/>
            <a:ext cx="2286000" cy="216000"/>
          </a:xfrm>
          <a:prstGeom prst="rect">
            <a:avLst/>
          </a:prstGeom>
          <a:solidFill>
            <a:srgbClr val="FFD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000" y="691200"/>
            <a:ext cx="2214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7F0000"/>
                </a:solidFill>
              </a:rPr>
              <a:t>AEW / AWACS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000" y="918000"/>
            <a:ext cx="2178000" cy="504000"/>
          </a:xfrm>
          <a:prstGeom prst="rect">
            <a:avLst/>
          </a:prstGeom>
          <a:solidFill>
            <a:srgbClr val="F0F0F0"/>
          </a:solidFill>
          <a:ln w="1080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000" y="936000"/>
            <a:ext cx="2178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BB0000"/>
                </a:solidFill>
              </a:rPr>
              <a:t>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000" y="1314000"/>
            <a:ext cx="217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50" b="0">
                <a:solidFill>
                  <a:srgbClr val="333333"/>
                </a:solidFill>
              </a:rPr>
              <a:t>2× AEW/AWACS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1458000"/>
            <a:ext cx="2286000" cy="162000"/>
          </a:xfrm>
          <a:prstGeom prst="rect">
            <a:avLst/>
          </a:prstGeom>
          <a:solidFill>
            <a:srgbClr val="7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000" y="14688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FFFFFF"/>
                </a:solidFill>
              </a:rPr>
              <a:t>ATRIBUTOS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16200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000" y="16308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Staying Power (HP)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6000" y="16308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7F0000"/>
                </a:solidFill>
              </a:rPr>
              <a:t>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000" y="18216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18288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000" y="18396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Movimento (hexes/turno)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6000" y="18396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7F0000"/>
                </a:solidFill>
              </a:rPr>
              <a:t>10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000" y="20304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20376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000" y="20484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Detecção (melhor)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6000" y="20484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7F0000"/>
                </a:solidFill>
              </a:rPr>
              <a:t>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000" y="22392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22464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000" y="22572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Alcance Ataque (melhor)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86000" y="22572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7F0000"/>
                </a:solidFill>
              </a:rPr>
              <a:t>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000" y="24480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2455200"/>
            <a:ext cx="2286000" cy="20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000" y="24660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Armamento (total)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86000" y="24660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7F0000"/>
                </a:solidFill>
              </a:rPr>
              <a:t>—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000" y="26568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2664000"/>
            <a:ext cx="2286000" cy="20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000" y="2674800"/>
            <a:ext cx="1224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33"/>
                </a:solidFill>
              </a:rPr>
              <a:t>Combustível (FP)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86000" y="2674800"/>
            <a:ext cx="846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>
                <a:solidFill>
                  <a:srgbClr val="7F0000"/>
                </a:solidFill>
              </a:rPr>
              <a:t>10 FP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000" y="2865600"/>
            <a:ext cx="21780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2880000"/>
            <a:ext cx="2286000" cy="162000"/>
          </a:xfrm>
          <a:prstGeom prst="rect">
            <a:avLst/>
          </a:prstGeom>
          <a:solidFill>
            <a:srgbClr val="B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000" y="28872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</a:rPr>
              <a:t>CAPACIDADES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3042000"/>
            <a:ext cx="2286000" cy="252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000" y="3052800"/>
            <a:ext cx="2178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>
                <a:solidFill>
                  <a:srgbClr val="333333"/>
                </a:solidFill>
              </a:rPr>
              <a:t>—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3294000"/>
            <a:ext cx="2286000" cy="162000"/>
          </a:xfrm>
          <a:prstGeom prst="rect">
            <a:avLst/>
          </a:prstGeom>
          <a:solidFill>
            <a:srgbClr val="B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000" y="3301200"/>
            <a:ext cx="221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</a:rPr>
              <a:t>ARMAMENTO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3456000"/>
            <a:ext cx="2286000" cy="2880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4000" y="3466800"/>
            <a:ext cx="2178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50" b="0">
                <a:solidFill>
                  <a:srgbClr val="333333"/>
                </a:solidFill>
              </a:rPr>
              <a:t>—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3744000"/>
            <a:ext cx="2286000" cy="-543600"/>
          </a:xfrm>
          <a:prstGeom prst="rect">
            <a:avLst/>
          </a:prstGeom>
          <a:solidFill>
            <a:srgbClr val="7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000" y="3762000"/>
            <a:ext cx="2178000" cy="-57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" b="0">
                <a:solidFill>
                  <a:srgbClr val="FFFFFF"/>
                </a:solidFill>
              </a:rPr>
              <a:t>ℹ K-99 Argus. ISR 9 hex. Crítico. Embarcado KCV.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0"/>
            <a:ext cx="2286000" cy="3200400"/>
          </a:xfrm>
          <a:prstGeom prst="rect">
            <a:avLst/>
          </a:prstGeom>
          <a:noFill/>
          <a:ln w="21600">
            <a:solidFill>
              <a:srgbClr val="7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